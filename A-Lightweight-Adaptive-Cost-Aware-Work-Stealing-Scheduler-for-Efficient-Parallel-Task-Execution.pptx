
<file path=[Content_Types].xml><?xml version="1.0" encoding="utf-8"?>
<Types xmlns="http://schemas.openxmlformats.org/package/2006/content-types">
  <Default Extension="png" ContentType="image/png"/>
  <Default Extension="svg" ContentType="image/svg+xml"/>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810"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4630400" cy="8229600"/>
  <p:notesSz cx="8229600" cy="14630400"/>
  <p:embeddedFontLst>
    <p:embeddedFont>
      <p:font typeface="Calibri" panose="020F0502020204030204" pitchFamily="34" charset="0"/>
      <p:regular r:id="rId13"/>
      <p:bold r:id="rId14"/>
      <p:italic r:id="rId15"/>
      <p:boldItalic r:id="rId16"/>
    </p:embeddedFont>
    <p:embeddedFont>
      <p:font typeface="Calibri Light" panose="020F0302020204030204" pitchFamily="34" charset="0"/>
      <p:regular r:id="rId17"/>
      <p:italic r:id="rId18"/>
    </p:embeddedFont>
    <p:embeddedFont>
      <p:font typeface="Consolas" panose="020B0609020204030204" pitchFamily="49" charset="0"/>
      <p:regular r:id="rId19"/>
      <p:bold r:id="rId20"/>
      <p:italic r:id="rId21"/>
      <p:boldItalic r:id="rId22"/>
    </p:embeddedFont>
    <p:embeddedFont>
      <p:font typeface="Inter" panose="020B0604020202020204" charset="0"/>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1" d="100"/>
          <a:sy n="81" d="100"/>
        </p:scale>
        <p:origin x="101" y="16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9.fntdata"/><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font" Target="fonts/font11.fntdata"/><Relationship Id="rId10" Type="http://schemas.openxmlformats.org/officeDocument/2006/relationships/slide" Target="slides/slide9.xml"/><Relationship Id="rId19"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font" Target="fonts/font10.fntdata"/><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052642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E16BFA-0E9C-485B-924B-2520919B7D47}"/>
              </a:ext>
            </a:extLst>
          </p:cNvPr>
          <p:cNvSpPr>
            <a:spLocks noGrp="1"/>
          </p:cNvSpPr>
          <p:nvPr>
            <p:ph type="ctrTitle"/>
          </p:nvPr>
        </p:nvSpPr>
        <p:spPr>
          <a:xfrm>
            <a:off x="1828800" y="1346836"/>
            <a:ext cx="10972800" cy="2865120"/>
          </a:xfrm>
        </p:spPr>
        <p:txBody>
          <a:bodyPr anchor="b"/>
          <a:lstStyle>
            <a:lvl1pPr algn="ctr">
              <a:defRPr sz="7200"/>
            </a:lvl1pPr>
          </a:lstStyle>
          <a:p>
            <a:r>
              <a:rPr lang="en-US"/>
              <a:t>Click to edit Master title style</a:t>
            </a:r>
          </a:p>
        </p:txBody>
      </p:sp>
      <p:sp>
        <p:nvSpPr>
          <p:cNvPr id="3" name="Subtitle 2">
            <a:extLst>
              <a:ext uri="{FF2B5EF4-FFF2-40B4-BE49-F238E27FC236}">
                <a16:creationId xmlns:a16="http://schemas.microsoft.com/office/drawing/2014/main" id="{23967B70-CC2B-43B9-8693-850F9B349B46}"/>
              </a:ext>
            </a:extLst>
          </p:cNvPr>
          <p:cNvSpPr>
            <a:spLocks noGrp="1"/>
          </p:cNvSpPr>
          <p:nvPr>
            <p:ph type="subTitle" idx="1"/>
          </p:nvPr>
        </p:nvSpPr>
        <p:spPr>
          <a:xfrm>
            <a:off x="1828800" y="4322446"/>
            <a:ext cx="10972800" cy="1986914"/>
          </a:xfrm>
        </p:spPr>
        <p:txBody>
          <a:bodyPr/>
          <a:lstStyle>
            <a:lvl1pPr marL="0" indent="0" algn="ctr">
              <a:buNone/>
              <a:defRPr sz="2880"/>
            </a:lvl1pPr>
            <a:lvl2pPr marL="548640" indent="0" algn="ctr">
              <a:buNone/>
              <a:defRPr sz="2400"/>
            </a:lvl2pPr>
            <a:lvl3pPr marL="1097280" indent="0" algn="ctr">
              <a:buNone/>
              <a:defRPr sz="2160"/>
            </a:lvl3pPr>
            <a:lvl4pPr marL="1645920" indent="0" algn="ctr">
              <a:buNone/>
              <a:defRPr sz="1920"/>
            </a:lvl4pPr>
            <a:lvl5pPr marL="2194560" indent="0" algn="ctr">
              <a:buNone/>
              <a:defRPr sz="1920"/>
            </a:lvl5pPr>
            <a:lvl6pPr marL="2743200" indent="0" algn="ctr">
              <a:buNone/>
              <a:defRPr sz="1920"/>
            </a:lvl6pPr>
            <a:lvl7pPr marL="3291840" indent="0" algn="ctr">
              <a:buNone/>
              <a:defRPr sz="1920"/>
            </a:lvl7pPr>
            <a:lvl8pPr marL="3840480" indent="0" algn="ctr">
              <a:buNone/>
              <a:defRPr sz="1920"/>
            </a:lvl8pPr>
            <a:lvl9pPr marL="4389120" indent="0" algn="ctr">
              <a:buNone/>
              <a:defRPr sz="1920"/>
            </a:lvl9pPr>
          </a:lstStyle>
          <a:p>
            <a:r>
              <a:rPr lang="en-US"/>
              <a:t>Click to edit Master subtitle style</a:t>
            </a:r>
          </a:p>
        </p:txBody>
      </p:sp>
      <p:sp>
        <p:nvSpPr>
          <p:cNvPr id="4" name="Date Placeholder 3">
            <a:extLst>
              <a:ext uri="{FF2B5EF4-FFF2-40B4-BE49-F238E27FC236}">
                <a16:creationId xmlns:a16="http://schemas.microsoft.com/office/drawing/2014/main" id="{ABCD733D-9193-4DC3-9665-E84575BEBF0F}"/>
              </a:ext>
            </a:extLst>
          </p:cNvPr>
          <p:cNvSpPr>
            <a:spLocks noGrp="1"/>
          </p:cNvSpPr>
          <p:nvPr>
            <p:ph type="dt" sz="half" idx="10"/>
          </p:nvPr>
        </p:nvSpPr>
        <p:spPr/>
        <p:txBody>
          <a:bodyPr/>
          <a:lstStyle/>
          <a:p>
            <a:fld id="{0F07BBE5-855A-46A9-8A85-6A87604F4D19}" type="datetimeFigureOut">
              <a:rPr lang="en-US" smtClean="0"/>
              <a:t>4/29/2026</a:t>
            </a:fld>
            <a:endParaRPr lang="en-US"/>
          </a:p>
        </p:txBody>
      </p:sp>
      <p:sp>
        <p:nvSpPr>
          <p:cNvPr id="5" name="Footer Placeholder 4">
            <a:extLst>
              <a:ext uri="{FF2B5EF4-FFF2-40B4-BE49-F238E27FC236}">
                <a16:creationId xmlns:a16="http://schemas.microsoft.com/office/drawing/2014/main" id="{724661EE-6658-4E32-B6A3-B4EDA624714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2F1A909-9D36-4C4D-BD0B-AC7AA66A240D}"/>
              </a:ext>
            </a:extLst>
          </p:cNvPr>
          <p:cNvSpPr>
            <a:spLocks noGrp="1"/>
          </p:cNvSpPr>
          <p:nvPr>
            <p:ph type="sldNum" sz="quarter" idx="12"/>
          </p:nvPr>
        </p:nvSpPr>
        <p:spPr/>
        <p:txBody>
          <a:bodyPr/>
          <a:lstStyle/>
          <a:p>
            <a:fld id="{BBA1E878-EF03-4D95-9BB8-DA24FEED6006}" type="slidenum">
              <a:rPr lang="en-US" smtClean="0"/>
              <a:t>‹#›</a:t>
            </a:fld>
            <a:endParaRPr lang="en-US"/>
          </a:p>
        </p:txBody>
      </p:sp>
    </p:spTree>
    <p:extLst>
      <p:ext uri="{BB962C8B-B14F-4D97-AF65-F5344CB8AC3E}">
        <p14:creationId xmlns:p14="http://schemas.microsoft.com/office/powerpoint/2010/main" val="3356832586"/>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C047F6-2D20-47F1-BC05-3B0EB2756DE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ABECCAD-A645-4A39-90F4-999D6E49ADF5}"/>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57002D-1127-4950-849D-DD638E4B17E0}"/>
              </a:ext>
            </a:extLst>
          </p:cNvPr>
          <p:cNvSpPr>
            <a:spLocks noGrp="1"/>
          </p:cNvSpPr>
          <p:nvPr>
            <p:ph type="dt" sz="half" idx="10"/>
          </p:nvPr>
        </p:nvSpPr>
        <p:spPr/>
        <p:txBody>
          <a:bodyPr/>
          <a:lstStyle/>
          <a:p>
            <a:fld id="{0F07BBE5-855A-46A9-8A85-6A87604F4D19}" type="datetimeFigureOut">
              <a:rPr lang="en-US" smtClean="0"/>
              <a:t>4/29/2026</a:t>
            </a:fld>
            <a:endParaRPr lang="en-US"/>
          </a:p>
        </p:txBody>
      </p:sp>
      <p:sp>
        <p:nvSpPr>
          <p:cNvPr id="5" name="Footer Placeholder 4">
            <a:extLst>
              <a:ext uri="{FF2B5EF4-FFF2-40B4-BE49-F238E27FC236}">
                <a16:creationId xmlns:a16="http://schemas.microsoft.com/office/drawing/2014/main" id="{F78399D3-07CC-4122-92C3-1D20CFF1E5D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6AB3913-596D-4F63-8BA6-33173A9EEBC1}"/>
              </a:ext>
            </a:extLst>
          </p:cNvPr>
          <p:cNvSpPr>
            <a:spLocks noGrp="1"/>
          </p:cNvSpPr>
          <p:nvPr>
            <p:ph type="sldNum" sz="quarter" idx="12"/>
          </p:nvPr>
        </p:nvSpPr>
        <p:spPr/>
        <p:txBody>
          <a:bodyPr/>
          <a:lstStyle/>
          <a:p>
            <a:fld id="{BBA1E878-EF03-4D95-9BB8-DA24FEED6006}" type="slidenum">
              <a:rPr lang="en-US" smtClean="0"/>
              <a:t>‹#›</a:t>
            </a:fld>
            <a:endParaRPr lang="en-US"/>
          </a:p>
        </p:txBody>
      </p:sp>
    </p:spTree>
    <p:extLst>
      <p:ext uri="{BB962C8B-B14F-4D97-AF65-F5344CB8AC3E}">
        <p14:creationId xmlns:p14="http://schemas.microsoft.com/office/powerpoint/2010/main" val="143325201"/>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D211C0-6591-453C-A1A6-37024AE3E2DD}"/>
              </a:ext>
            </a:extLst>
          </p:cNvPr>
          <p:cNvSpPr>
            <a:spLocks noGrp="1"/>
          </p:cNvSpPr>
          <p:nvPr>
            <p:ph type="title"/>
          </p:nvPr>
        </p:nvSpPr>
        <p:spPr>
          <a:xfrm>
            <a:off x="998220" y="2051686"/>
            <a:ext cx="12618720" cy="3423284"/>
          </a:xfrm>
        </p:spPr>
        <p:txBody>
          <a:bodyPr anchor="b"/>
          <a:lstStyle>
            <a:lvl1pPr>
              <a:defRPr sz="7200"/>
            </a:lvl1pPr>
          </a:lstStyle>
          <a:p>
            <a:r>
              <a:rPr lang="en-US"/>
              <a:t>Click to edit Master title style</a:t>
            </a:r>
          </a:p>
        </p:txBody>
      </p:sp>
      <p:sp>
        <p:nvSpPr>
          <p:cNvPr id="3" name="Text Placeholder 2">
            <a:extLst>
              <a:ext uri="{FF2B5EF4-FFF2-40B4-BE49-F238E27FC236}">
                <a16:creationId xmlns:a16="http://schemas.microsoft.com/office/drawing/2014/main" id="{26B82622-F7A6-4EEB-8094-6EA04458B667}"/>
              </a:ext>
            </a:extLst>
          </p:cNvPr>
          <p:cNvSpPr>
            <a:spLocks noGrp="1"/>
          </p:cNvSpPr>
          <p:nvPr>
            <p:ph type="body" idx="1"/>
          </p:nvPr>
        </p:nvSpPr>
        <p:spPr>
          <a:xfrm>
            <a:off x="998220" y="5507356"/>
            <a:ext cx="12618720" cy="1800224"/>
          </a:xfrm>
        </p:spPr>
        <p:txBody>
          <a:bodyPr/>
          <a:lstStyle>
            <a:lvl1pPr marL="0" indent="0">
              <a:buNone/>
              <a:defRPr sz="2880">
                <a:solidFill>
                  <a:schemeClr val="tx1">
                    <a:tint val="75000"/>
                  </a:schemeClr>
                </a:solidFill>
              </a:defRPr>
            </a:lvl1pPr>
            <a:lvl2pPr marL="548640" indent="0">
              <a:buNone/>
              <a:defRPr sz="2400">
                <a:solidFill>
                  <a:schemeClr val="tx1">
                    <a:tint val="75000"/>
                  </a:schemeClr>
                </a:solidFill>
              </a:defRPr>
            </a:lvl2pPr>
            <a:lvl3pPr marL="1097280" indent="0">
              <a:buNone/>
              <a:defRPr sz="2160">
                <a:solidFill>
                  <a:schemeClr val="tx1">
                    <a:tint val="75000"/>
                  </a:schemeClr>
                </a:solidFill>
              </a:defRPr>
            </a:lvl3pPr>
            <a:lvl4pPr marL="1645920" indent="0">
              <a:buNone/>
              <a:defRPr sz="1920">
                <a:solidFill>
                  <a:schemeClr val="tx1">
                    <a:tint val="75000"/>
                  </a:schemeClr>
                </a:solidFill>
              </a:defRPr>
            </a:lvl4pPr>
            <a:lvl5pPr marL="2194560" indent="0">
              <a:buNone/>
              <a:defRPr sz="1920">
                <a:solidFill>
                  <a:schemeClr val="tx1">
                    <a:tint val="75000"/>
                  </a:schemeClr>
                </a:solidFill>
              </a:defRPr>
            </a:lvl5pPr>
            <a:lvl6pPr marL="2743200" indent="0">
              <a:buNone/>
              <a:defRPr sz="1920">
                <a:solidFill>
                  <a:schemeClr val="tx1">
                    <a:tint val="75000"/>
                  </a:schemeClr>
                </a:solidFill>
              </a:defRPr>
            </a:lvl6pPr>
            <a:lvl7pPr marL="3291840" indent="0">
              <a:buNone/>
              <a:defRPr sz="1920">
                <a:solidFill>
                  <a:schemeClr val="tx1">
                    <a:tint val="75000"/>
                  </a:schemeClr>
                </a:solidFill>
              </a:defRPr>
            </a:lvl7pPr>
            <a:lvl8pPr marL="3840480" indent="0">
              <a:buNone/>
              <a:defRPr sz="1920">
                <a:solidFill>
                  <a:schemeClr val="tx1">
                    <a:tint val="75000"/>
                  </a:schemeClr>
                </a:solidFill>
              </a:defRPr>
            </a:lvl8pPr>
            <a:lvl9pPr marL="4389120" indent="0">
              <a:buNone/>
              <a:defRPr sz="192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EFB36ECB-70A3-4A38-98DC-722281B0C484}"/>
              </a:ext>
            </a:extLst>
          </p:cNvPr>
          <p:cNvSpPr>
            <a:spLocks noGrp="1"/>
          </p:cNvSpPr>
          <p:nvPr>
            <p:ph type="dt" sz="half" idx="10"/>
          </p:nvPr>
        </p:nvSpPr>
        <p:spPr/>
        <p:txBody>
          <a:bodyPr/>
          <a:lstStyle/>
          <a:p>
            <a:fld id="{0F07BBE5-855A-46A9-8A85-6A87604F4D19}" type="datetimeFigureOut">
              <a:rPr lang="en-US" smtClean="0"/>
              <a:t>4/29/2026</a:t>
            </a:fld>
            <a:endParaRPr lang="en-US"/>
          </a:p>
        </p:txBody>
      </p:sp>
      <p:sp>
        <p:nvSpPr>
          <p:cNvPr id="5" name="Footer Placeholder 4">
            <a:extLst>
              <a:ext uri="{FF2B5EF4-FFF2-40B4-BE49-F238E27FC236}">
                <a16:creationId xmlns:a16="http://schemas.microsoft.com/office/drawing/2014/main" id="{42A80AE7-2605-4AED-8323-1D288AB8F4E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D59E233-2234-4128-9B03-17B4B577A7FE}"/>
              </a:ext>
            </a:extLst>
          </p:cNvPr>
          <p:cNvSpPr>
            <a:spLocks noGrp="1"/>
          </p:cNvSpPr>
          <p:nvPr>
            <p:ph type="sldNum" sz="quarter" idx="12"/>
          </p:nvPr>
        </p:nvSpPr>
        <p:spPr/>
        <p:txBody>
          <a:bodyPr/>
          <a:lstStyle/>
          <a:p>
            <a:fld id="{BBA1E878-EF03-4D95-9BB8-DA24FEED6006}" type="slidenum">
              <a:rPr lang="en-US" smtClean="0"/>
              <a:t>‹#›</a:t>
            </a:fld>
            <a:endParaRPr lang="en-US"/>
          </a:p>
        </p:txBody>
      </p:sp>
    </p:spTree>
    <p:extLst>
      <p:ext uri="{BB962C8B-B14F-4D97-AF65-F5344CB8AC3E}">
        <p14:creationId xmlns:p14="http://schemas.microsoft.com/office/powerpoint/2010/main" val="4111668322"/>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E771AE-CB71-45E0-8EE5-9C3E78CFE20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3058591-F091-4068-8678-3922B10CE50F}"/>
              </a:ext>
            </a:extLst>
          </p:cNvPr>
          <p:cNvSpPr>
            <a:spLocks noGrp="1"/>
          </p:cNvSpPr>
          <p:nvPr>
            <p:ph sz="half" idx="1"/>
          </p:nvPr>
        </p:nvSpPr>
        <p:spPr>
          <a:xfrm>
            <a:off x="1005840" y="2190750"/>
            <a:ext cx="6217920" cy="522160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4D2D3D9-4630-46CC-BF59-AEC5C98BD1D3}"/>
              </a:ext>
            </a:extLst>
          </p:cNvPr>
          <p:cNvSpPr>
            <a:spLocks noGrp="1"/>
          </p:cNvSpPr>
          <p:nvPr>
            <p:ph sz="half" idx="2"/>
          </p:nvPr>
        </p:nvSpPr>
        <p:spPr>
          <a:xfrm>
            <a:off x="7406640" y="2190750"/>
            <a:ext cx="6217920" cy="522160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B158124-66FD-4000-9833-BD55E6DF6BD3}"/>
              </a:ext>
            </a:extLst>
          </p:cNvPr>
          <p:cNvSpPr>
            <a:spLocks noGrp="1"/>
          </p:cNvSpPr>
          <p:nvPr>
            <p:ph type="dt" sz="half" idx="10"/>
          </p:nvPr>
        </p:nvSpPr>
        <p:spPr/>
        <p:txBody>
          <a:bodyPr/>
          <a:lstStyle/>
          <a:p>
            <a:fld id="{0F07BBE5-855A-46A9-8A85-6A87604F4D19}" type="datetimeFigureOut">
              <a:rPr lang="en-US" smtClean="0"/>
              <a:t>4/29/2026</a:t>
            </a:fld>
            <a:endParaRPr lang="en-US"/>
          </a:p>
        </p:txBody>
      </p:sp>
      <p:sp>
        <p:nvSpPr>
          <p:cNvPr id="6" name="Footer Placeholder 5">
            <a:extLst>
              <a:ext uri="{FF2B5EF4-FFF2-40B4-BE49-F238E27FC236}">
                <a16:creationId xmlns:a16="http://schemas.microsoft.com/office/drawing/2014/main" id="{F72D6C2F-F80B-412F-8B5D-AA7F149B0A7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15C187D-F24C-4B23-963C-79DEE98CEA91}"/>
              </a:ext>
            </a:extLst>
          </p:cNvPr>
          <p:cNvSpPr>
            <a:spLocks noGrp="1"/>
          </p:cNvSpPr>
          <p:nvPr>
            <p:ph type="sldNum" sz="quarter" idx="12"/>
          </p:nvPr>
        </p:nvSpPr>
        <p:spPr/>
        <p:txBody>
          <a:bodyPr/>
          <a:lstStyle/>
          <a:p>
            <a:fld id="{BBA1E878-EF03-4D95-9BB8-DA24FEED6006}" type="slidenum">
              <a:rPr lang="en-US" smtClean="0"/>
              <a:t>‹#›</a:t>
            </a:fld>
            <a:endParaRPr lang="en-US"/>
          </a:p>
        </p:txBody>
      </p:sp>
    </p:spTree>
    <p:extLst>
      <p:ext uri="{BB962C8B-B14F-4D97-AF65-F5344CB8AC3E}">
        <p14:creationId xmlns:p14="http://schemas.microsoft.com/office/powerpoint/2010/main" val="4071846959"/>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9BEC45-E0B7-408A-BD2D-7593495A0012}"/>
              </a:ext>
            </a:extLst>
          </p:cNvPr>
          <p:cNvSpPr>
            <a:spLocks noGrp="1"/>
          </p:cNvSpPr>
          <p:nvPr>
            <p:ph type="title"/>
          </p:nvPr>
        </p:nvSpPr>
        <p:spPr>
          <a:xfrm>
            <a:off x="1007746" y="438150"/>
            <a:ext cx="12618720" cy="1590676"/>
          </a:xfrm>
        </p:spPr>
        <p:txBody>
          <a:bodyPr/>
          <a:lstStyle/>
          <a:p>
            <a:r>
              <a:rPr lang="en-US"/>
              <a:t>Click to edit Master title style</a:t>
            </a:r>
          </a:p>
        </p:txBody>
      </p:sp>
      <p:sp>
        <p:nvSpPr>
          <p:cNvPr id="3" name="Text Placeholder 2">
            <a:extLst>
              <a:ext uri="{FF2B5EF4-FFF2-40B4-BE49-F238E27FC236}">
                <a16:creationId xmlns:a16="http://schemas.microsoft.com/office/drawing/2014/main" id="{F532D1F4-2DD7-4DAF-92D5-4CC5184B78EE}"/>
              </a:ext>
            </a:extLst>
          </p:cNvPr>
          <p:cNvSpPr>
            <a:spLocks noGrp="1"/>
          </p:cNvSpPr>
          <p:nvPr>
            <p:ph type="body" idx="1"/>
          </p:nvPr>
        </p:nvSpPr>
        <p:spPr>
          <a:xfrm>
            <a:off x="1007746" y="2017396"/>
            <a:ext cx="6189344" cy="988694"/>
          </a:xfrm>
        </p:spPr>
        <p:txBody>
          <a:bodyPr anchor="b"/>
          <a:lstStyle>
            <a:lvl1pPr marL="0" indent="0">
              <a:buNone/>
              <a:defRPr sz="2880" b="1"/>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Edit Master text styles</a:t>
            </a:r>
          </a:p>
        </p:txBody>
      </p:sp>
      <p:sp>
        <p:nvSpPr>
          <p:cNvPr id="4" name="Content Placeholder 3">
            <a:extLst>
              <a:ext uri="{FF2B5EF4-FFF2-40B4-BE49-F238E27FC236}">
                <a16:creationId xmlns:a16="http://schemas.microsoft.com/office/drawing/2014/main" id="{25FDEC02-E34F-459B-876F-68543F27E409}"/>
              </a:ext>
            </a:extLst>
          </p:cNvPr>
          <p:cNvSpPr>
            <a:spLocks noGrp="1"/>
          </p:cNvSpPr>
          <p:nvPr>
            <p:ph sz="half" idx="2"/>
          </p:nvPr>
        </p:nvSpPr>
        <p:spPr>
          <a:xfrm>
            <a:off x="1007746" y="3006090"/>
            <a:ext cx="6189344" cy="442150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E941422-1548-4CCF-A35F-2151428C7D1A}"/>
              </a:ext>
            </a:extLst>
          </p:cNvPr>
          <p:cNvSpPr>
            <a:spLocks noGrp="1"/>
          </p:cNvSpPr>
          <p:nvPr>
            <p:ph type="body" sz="quarter" idx="3"/>
          </p:nvPr>
        </p:nvSpPr>
        <p:spPr>
          <a:xfrm>
            <a:off x="7406640" y="2017396"/>
            <a:ext cx="6219826" cy="988694"/>
          </a:xfrm>
        </p:spPr>
        <p:txBody>
          <a:bodyPr anchor="b"/>
          <a:lstStyle>
            <a:lvl1pPr marL="0" indent="0">
              <a:buNone/>
              <a:defRPr sz="2880" b="1"/>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Edit Master text styles</a:t>
            </a:r>
          </a:p>
        </p:txBody>
      </p:sp>
      <p:sp>
        <p:nvSpPr>
          <p:cNvPr id="6" name="Content Placeholder 5">
            <a:extLst>
              <a:ext uri="{FF2B5EF4-FFF2-40B4-BE49-F238E27FC236}">
                <a16:creationId xmlns:a16="http://schemas.microsoft.com/office/drawing/2014/main" id="{5D65889B-D79D-46F3-A6E5-DEEEAFBC617F}"/>
              </a:ext>
            </a:extLst>
          </p:cNvPr>
          <p:cNvSpPr>
            <a:spLocks noGrp="1"/>
          </p:cNvSpPr>
          <p:nvPr>
            <p:ph sz="quarter" idx="4"/>
          </p:nvPr>
        </p:nvSpPr>
        <p:spPr>
          <a:xfrm>
            <a:off x="7406640" y="3006090"/>
            <a:ext cx="6219826" cy="442150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6466D2C-AA3F-4B64-8C53-85AB4CD7F902}"/>
              </a:ext>
            </a:extLst>
          </p:cNvPr>
          <p:cNvSpPr>
            <a:spLocks noGrp="1"/>
          </p:cNvSpPr>
          <p:nvPr>
            <p:ph type="dt" sz="half" idx="10"/>
          </p:nvPr>
        </p:nvSpPr>
        <p:spPr/>
        <p:txBody>
          <a:bodyPr/>
          <a:lstStyle/>
          <a:p>
            <a:fld id="{0F07BBE5-855A-46A9-8A85-6A87604F4D19}" type="datetimeFigureOut">
              <a:rPr lang="en-US" smtClean="0"/>
              <a:t>4/29/2026</a:t>
            </a:fld>
            <a:endParaRPr lang="en-US"/>
          </a:p>
        </p:txBody>
      </p:sp>
      <p:sp>
        <p:nvSpPr>
          <p:cNvPr id="8" name="Footer Placeholder 7">
            <a:extLst>
              <a:ext uri="{FF2B5EF4-FFF2-40B4-BE49-F238E27FC236}">
                <a16:creationId xmlns:a16="http://schemas.microsoft.com/office/drawing/2014/main" id="{2E71EA24-B4CB-4DC7-AB9F-2D871FC45B4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590B9B4-9606-48FE-960F-15FEE3259601}"/>
              </a:ext>
            </a:extLst>
          </p:cNvPr>
          <p:cNvSpPr>
            <a:spLocks noGrp="1"/>
          </p:cNvSpPr>
          <p:nvPr>
            <p:ph type="sldNum" sz="quarter" idx="12"/>
          </p:nvPr>
        </p:nvSpPr>
        <p:spPr/>
        <p:txBody>
          <a:bodyPr/>
          <a:lstStyle/>
          <a:p>
            <a:fld id="{BBA1E878-EF03-4D95-9BB8-DA24FEED6006}" type="slidenum">
              <a:rPr lang="en-US" smtClean="0"/>
              <a:t>‹#›</a:t>
            </a:fld>
            <a:endParaRPr lang="en-US"/>
          </a:p>
        </p:txBody>
      </p:sp>
    </p:spTree>
    <p:extLst>
      <p:ext uri="{BB962C8B-B14F-4D97-AF65-F5344CB8AC3E}">
        <p14:creationId xmlns:p14="http://schemas.microsoft.com/office/powerpoint/2010/main" val="617247241"/>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BF7BF1-E2F8-4272-AEA8-BC46D0FAA83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5E4C1B3-B1BE-40A8-AA14-DB172740443C}"/>
              </a:ext>
            </a:extLst>
          </p:cNvPr>
          <p:cNvSpPr>
            <a:spLocks noGrp="1"/>
          </p:cNvSpPr>
          <p:nvPr>
            <p:ph type="dt" sz="half" idx="10"/>
          </p:nvPr>
        </p:nvSpPr>
        <p:spPr/>
        <p:txBody>
          <a:bodyPr/>
          <a:lstStyle/>
          <a:p>
            <a:fld id="{0F07BBE5-855A-46A9-8A85-6A87604F4D19}" type="datetimeFigureOut">
              <a:rPr lang="en-US" smtClean="0"/>
              <a:t>4/29/2026</a:t>
            </a:fld>
            <a:endParaRPr lang="en-US"/>
          </a:p>
        </p:txBody>
      </p:sp>
      <p:sp>
        <p:nvSpPr>
          <p:cNvPr id="4" name="Footer Placeholder 3">
            <a:extLst>
              <a:ext uri="{FF2B5EF4-FFF2-40B4-BE49-F238E27FC236}">
                <a16:creationId xmlns:a16="http://schemas.microsoft.com/office/drawing/2014/main" id="{DF2F9775-9C63-4E7D-8A33-9AC43FF02BF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B6851F2-9A46-4215-8793-3676C88CC1F6}"/>
              </a:ext>
            </a:extLst>
          </p:cNvPr>
          <p:cNvSpPr>
            <a:spLocks noGrp="1"/>
          </p:cNvSpPr>
          <p:nvPr>
            <p:ph type="sldNum" sz="quarter" idx="12"/>
          </p:nvPr>
        </p:nvSpPr>
        <p:spPr/>
        <p:txBody>
          <a:bodyPr/>
          <a:lstStyle/>
          <a:p>
            <a:fld id="{BBA1E878-EF03-4D95-9BB8-DA24FEED6006}" type="slidenum">
              <a:rPr lang="en-US" smtClean="0"/>
              <a:t>‹#›</a:t>
            </a:fld>
            <a:endParaRPr lang="en-US"/>
          </a:p>
        </p:txBody>
      </p:sp>
    </p:spTree>
    <p:extLst>
      <p:ext uri="{BB962C8B-B14F-4D97-AF65-F5344CB8AC3E}">
        <p14:creationId xmlns:p14="http://schemas.microsoft.com/office/powerpoint/2010/main" val="3462089250"/>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7CCB8EC-D876-4AD2-B6D4-742FDC38FA60}"/>
              </a:ext>
            </a:extLst>
          </p:cNvPr>
          <p:cNvSpPr>
            <a:spLocks noGrp="1"/>
          </p:cNvSpPr>
          <p:nvPr>
            <p:ph type="dt" sz="half" idx="10"/>
          </p:nvPr>
        </p:nvSpPr>
        <p:spPr/>
        <p:txBody>
          <a:bodyPr/>
          <a:lstStyle/>
          <a:p>
            <a:fld id="{0F07BBE5-855A-46A9-8A85-6A87604F4D19}" type="datetimeFigureOut">
              <a:rPr lang="en-US" smtClean="0"/>
              <a:t>4/29/2026</a:t>
            </a:fld>
            <a:endParaRPr lang="en-US"/>
          </a:p>
        </p:txBody>
      </p:sp>
      <p:sp>
        <p:nvSpPr>
          <p:cNvPr id="3" name="Footer Placeholder 2">
            <a:extLst>
              <a:ext uri="{FF2B5EF4-FFF2-40B4-BE49-F238E27FC236}">
                <a16:creationId xmlns:a16="http://schemas.microsoft.com/office/drawing/2014/main" id="{55F50F50-3D28-46E3-A442-F8F32138324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C0811CD-22BC-46CD-916B-591C0F7F38A4}"/>
              </a:ext>
            </a:extLst>
          </p:cNvPr>
          <p:cNvSpPr>
            <a:spLocks noGrp="1"/>
          </p:cNvSpPr>
          <p:nvPr>
            <p:ph type="sldNum" sz="quarter" idx="12"/>
          </p:nvPr>
        </p:nvSpPr>
        <p:spPr/>
        <p:txBody>
          <a:bodyPr/>
          <a:lstStyle/>
          <a:p>
            <a:fld id="{BBA1E878-EF03-4D95-9BB8-DA24FEED6006}" type="slidenum">
              <a:rPr lang="en-US" smtClean="0"/>
              <a:t>‹#›</a:t>
            </a:fld>
            <a:endParaRPr lang="en-US"/>
          </a:p>
        </p:txBody>
      </p:sp>
    </p:spTree>
    <p:extLst>
      <p:ext uri="{BB962C8B-B14F-4D97-AF65-F5344CB8AC3E}">
        <p14:creationId xmlns:p14="http://schemas.microsoft.com/office/powerpoint/2010/main" val="2102850124"/>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05F271-DBF8-42DE-8700-A9D87114ED1F}"/>
              </a:ext>
            </a:extLst>
          </p:cNvPr>
          <p:cNvSpPr>
            <a:spLocks noGrp="1"/>
          </p:cNvSpPr>
          <p:nvPr>
            <p:ph type="title"/>
          </p:nvPr>
        </p:nvSpPr>
        <p:spPr>
          <a:xfrm>
            <a:off x="1007746" y="548640"/>
            <a:ext cx="4718684" cy="1920240"/>
          </a:xfrm>
        </p:spPr>
        <p:txBody>
          <a:bodyPr anchor="b"/>
          <a:lstStyle>
            <a:lvl1pPr>
              <a:defRPr sz="3840"/>
            </a:lvl1pPr>
          </a:lstStyle>
          <a:p>
            <a:r>
              <a:rPr lang="en-US"/>
              <a:t>Click to edit Master title style</a:t>
            </a:r>
          </a:p>
        </p:txBody>
      </p:sp>
      <p:sp>
        <p:nvSpPr>
          <p:cNvPr id="3" name="Content Placeholder 2">
            <a:extLst>
              <a:ext uri="{FF2B5EF4-FFF2-40B4-BE49-F238E27FC236}">
                <a16:creationId xmlns:a16="http://schemas.microsoft.com/office/drawing/2014/main" id="{BFCBA73A-B4A5-4A18-9117-75A1951AFFCC}"/>
              </a:ext>
            </a:extLst>
          </p:cNvPr>
          <p:cNvSpPr>
            <a:spLocks noGrp="1"/>
          </p:cNvSpPr>
          <p:nvPr>
            <p:ph idx="1"/>
          </p:nvPr>
        </p:nvSpPr>
        <p:spPr>
          <a:xfrm>
            <a:off x="6219826" y="1184911"/>
            <a:ext cx="7406640" cy="5848350"/>
          </a:xfrm>
        </p:spPr>
        <p:txBody>
          <a:bodyPr/>
          <a:lstStyle>
            <a:lvl1pPr>
              <a:defRPr sz="3840"/>
            </a:lvl1pPr>
            <a:lvl2pPr>
              <a:defRPr sz="3360"/>
            </a:lvl2pPr>
            <a:lvl3pPr>
              <a:defRPr sz="2880"/>
            </a:lvl3pPr>
            <a:lvl4pPr>
              <a:defRPr sz="2400"/>
            </a:lvl4pPr>
            <a:lvl5pPr>
              <a:defRPr sz="2400"/>
            </a:lvl5pPr>
            <a:lvl6pPr>
              <a:defRPr sz="2400"/>
            </a:lvl6pPr>
            <a:lvl7pPr>
              <a:defRPr sz="2400"/>
            </a:lvl7pPr>
            <a:lvl8pPr>
              <a:defRPr sz="2400"/>
            </a:lvl8pPr>
            <a:lvl9pPr>
              <a:defRPr sz="2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FF04CA5-BF9C-487D-8556-517C0EB28E5A}"/>
              </a:ext>
            </a:extLst>
          </p:cNvPr>
          <p:cNvSpPr>
            <a:spLocks noGrp="1"/>
          </p:cNvSpPr>
          <p:nvPr>
            <p:ph type="body" sz="half" idx="2"/>
          </p:nvPr>
        </p:nvSpPr>
        <p:spPr>
          <a:xfrm>
            <a:off x="1007746" y="2468880"/>
            <a:ext cx="4718684" cy="4573906"/>
          </a:xfrm>
        </p:spPr>
        <p:txBody>
          <a:bodyPr/>
          <a:lstStyle>
            <a:lvl1pPr marL="0" indent="0">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a:t>Edit Master text styles</a:t>
            </a:r>
          </a:p>
        </p:txBody>
      </p:sp>
      <p:sp>
        <p:nvSpPr>
          <p:cNvPr id="5" name="Date Placeholder 4">
            <a:extLst>
              <a:ext uri="{FF2B5EF4-FFF2-40B4-BE49-F238E27FC236}">
                <a16:creationId xmlns:a16="http://schemas.microsoft.com/office/drawing/2014/main" id="{A9B61C19-665C-4305-ABD5-3C87BAB97929}"/>
              </a:ext>
            </a:extLst>
          </p:cNvPr>
          <p:cNvSpPr>
            <a:spLocks noGrp="1"/>
          </p:cNvSpPr>
          <p:nvPr>
            <p:ph type="dt" sz="half" idx="10"/>
          </p:nvPr>
        </p:nvSpPr>
        <p:spPr/>
        <p:txBody>
          <a:bodyPr/>
          <a:lstStyle/>
          <a:p>
            <a:fld id="{0F07BBE5-855A-46A9-8A85-6A87604F4D19}" type="datetimeFigureOut">
              <a:rPr lang="en-US" smtClean="0"/>
              <a:t>4/29/2026</a:t>
            </a:fld>
            <a:endParaRPr lang="en-US"/>
          </a:p>
        </p:txBody>
      </p:sp>
      <p:sp>
        <p:nvSpPr>
          <p:cNvPr id="6" name="Footer Placeholder 5">
            <a:extLst>
              <a:ext uri="{FF2B5EF4-FFF2-40B4-BE49-F238E27FC236}">
                <a16:creationId xmlns:a16="http://schemas.microsoft.com/office/drawing/2014/main" id="{4BE55FDD-89C9-4EAE-A28B-ABE3A7D7059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974E2F4-6FF0-45C6-BFC5-DE20023F77BF}"/>
              </a:ext>
            </a:extLst>
          </p:cNvPr>
          <p:cNvSpPr>
            <a:spLocks noGrp="1"/>
          </p:cNvSpPr>
          <p:nvPr>
            <p:ph type="sldNum" sz="quarter" idx="12"/>
          </p:nvPr>
        </p:nvSpPr>
        <p:spPr/>
        <p:txBody>
          <a:bodyPr/>
          <a:lstStyle/>
          <a:p>
            <a:fld id="{BBA1E878-EF03-4D95-9BB8-DA24FEED6006}" type="slidenum">
              <a:rPr lang="en-US" smtClean="0"/>
              <a:t>‹#›</a:t>
            </a:fld>
            <a:endParaRPr lang="en-US"/>
          </a:p>
        </p:txBody>
      </p:sp>
    </p:spTree>
    <p:extLst>
      <p:ext uri="{BB962C8B-B14F-4D97-AF65-F5344CB8AC3E}">
        <p14:creationId xmlns:p14="http://schemas.microsoft.com/office/powerpoint/2010/main" val="3084747086"/>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EA5D2F-3BA7-4477-97FD-2DDBB3CC831F}"/>
              </a:ext>
            </a:extLst>
          </p:cNvPr>
          <p:cNvSpPr>
            <a:spLocks noGrp="1"/>
          </p:cNvSpPr>
          <p:nvPr>
            <p:ph type="title"/>
          </p:nvPr>
        </p:nvSpPr>
        <p:spPr>
          <a:xfrm>
            <a:off x="1007746" y="548640"/>
            <a:ext cx="4718684" cy="1920240"/>
          </a:xfrm>
        </p:spPr>
        <p:txBody>
          <a:bodyPr anchor="b"/>
          <a:lstStyle>
            <a:lvl1pPr>
              <a:defRPr sz="3840"/>
            </a:lvl1pPr>
          </a:lstStyle>
          <a:p>
            <a:r>
              <a:rPr lang="en-US"/>
              <a:t>Click to edit Master title style</a:t>
            </a:r>
          </a:p>
        </p:txBody>
      </p:sp>
      <p:sp>
        <p:nvSpPr>
          <p:cNvPr id="3" name="Picture Placeholder 2">
            <a:extLst>
              <a:ext uri="{FF2B5EF4-FFF2-40B4-BE49-F238E27FC236}">
                <a16:creationId xmlns:a16="http://schemas.microsoft.com/office/drawing/2014/main" id="{09A9134C-1BAE-4EBC-AF45-B7722C4BBF59}"/>
              </a:ext>
            </a:extLst>
          </p:cNvPr>
          <p:cNvSpPr>
            <a:spLocks noGrp="1"/>
          </p:cNvSpPr>
          <p:nvPr>
            <p:ph type="pic" idx="1"/>
          </p:nvPr>
        </p:nvSpPr>
        <p:spPr>
          <a:xfrm>
            <a:off x="6219826" y="1184911"/>
            <a:ext cx="7406640" cy="5848350"/>
          </a:xfrm>
        </p:spPr>
        <p:txBody>
          <a:bodyPr/>
          <a:lstStyle>
            <a:lvl1pPr marL="0" indent="0">
              <a:buNone/>
              <a:defRPr sz="3840"/>
            </a:lvl1pPr>
            <a:lvl2pPr marL="548640" indent="0">
              <a:buNone/>
              <a:defRPr sz="3360"/>
            </a:lvl2pPr>
            <a:lvl3pPr marL="1097280" indent="0">
              <a:buNone/>
              <a:defRPr sz="2880"/>
            </a:lvl3pPr>
            <a:lvl4pPr marL="1645920" indent="0">
              <a:buNone/>
              <a:defRPr sz="2400"/>
            </a:lvl4pPr>
            <a:lvl5pPr marL="2194560" indent="0">
              <a:buNone/>
              <a:defRPr sz="2400"/>
            </a:lvl5pPr>
            <a:lvl6pPr marL="2743200" indent="0">
              <a:buNone/>
              <a:defRPr sz="2400"/>
            </a:lvl6pPr>
            <a:lvl7pPr marL="3291840" indent="0">
              <a:buNone/>
              <a:defRPr sz="2400"/>
            </a:lvl7pPr>
            <a:lvl8pPr marL="3840480" indent="0">
              <a:buNone/>
              <a:defRPr sz="2400"/>
            </a:lvl8pPr>
            <a:lvl9pPr marL="4389120" indent="0">
              <a:buNone/>
              <a:defRPr sz="2400"/>
            </a:lvl9pPr>
          </a:lstStyle>
          <a:p>
            <a:endParaRPr lang="en-US"/>
          </a:p>
        </p:txBody>
      </p:sp>
      <p:sp>
        <p:nvSpPr>
          <p:cNvPr id="4" name="Text Placeholder 3">
            <a:extLst>
              <a:ext uri="{FF2B5EF4-FFF2-40B4-BE49-F238E27FC236}">
                <a16:creationId xmlns:a16="http://schemas.microsoft.com/office/drawing/2014/main" id="{4CF27DA6-9D0A-4B1B-B97B-C9A7A2C08957}"/>
              </a:ext>
            </a:extLst>
          </p:cNvPr>
          <p:cNvSpPr>
            <a:spLocks noGrp="1"/>
          </p:cNvSpPr>
          <p:nvPr>
            <p:ph type="body" sz="half" idx="2"/>
          </p:nvPr>
        </p:nvSpPr>
        <p:spPr>
          <a:xfrm>
            <a:off x="1007746" y="2468880"/>
            <a:ext cx="4718684" cy="4573906"/>
          </a:xfrm>
        </p:spPr>
        <p:txBody>
          <a:bodyPr/>
          <a:lstStyle>
            <a:lvl1pPr marL="0" indent="0">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a:t>Edit Master text styles</a:t>
            </a:r>
          </a:p>
        </p:txBody>
      </p:sp>
      <p:sp>
        <p:nvSpPr>
          <p:cNvPr id="5" name="Date Placeholder 4">
            <a:extLst>
              <a:ext uri="{FF2B5EF4-FFF2-40B4-BE49-F238E27FC236}">
                <a16:creationId xmlns:a16="http://schemas.microsoft.com/office/drawing/2014/main" id="{02CA2D68-58B0-45AB-9878-66B7AA9EBDB2}"/>
              </a:ext>
            </a:extLst>
          </p:cNvPr>
          <p:cNvSpPr>
            <a:spLocks noGrp="1"/>
          </p:cNvSpPr>
          <p:nvPr>
            <p:ph type="dt" sz="half" idx="10"/>
          </p:nvPr>
        </p:nvSpPr>
        <p:spPr/>
        <p:txBody>
          <a:bodyPr/>
          <a:lstStyle/>
          <a:p>
            <a:fld id="{0F07BBE5-855A-46A9-8A85-6A87604F4D19}" type="datetimeFigureOut">
              <a:rPr lang="en-US" smtClean="0"/>
              <a:t>4/29/2026</a:t>
            </a:fld>
            <a:endParaRPr lang="en-US"/>
          </a:p>
        </p:txBody>
      </p:sp>
      <p:sp>
        <p:nvSpPr>
          <p:cNvPr id="6" name="Footer Placeholder 5">
            <a:extLst>
              <a:ext uri="{FF2B5EF4-FFF2-40B4-BE49-F238E27FC236}">
                <a16:creationId xmlns:a16="http://schemas.microsoft.com/office/drawing/2014/main" id="{40BEC3E2-E7FF-4482-B1AA-0BD762AED93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FFB88F3-297F-4A80-A12C-BD2B53CD222C}"/>
              </a:ext>
            </a:extLst>
          </p:cNvPr>
          <p:cNvSpPr>
            <a:spLocks noGrp="1"/>
          </p:cNvSpPr>
          <p:nvPr>
            <p:ph type="sldNum" sz="quarter" idx="12"/>
          </p:nvPr>
        </p:nvSpPr>
        <p:spPr/>
        <p:txBody>
          <a:bodyPr/>
          <a:lstStyle/>
          <a:p>
            <a:fld id="{BBA1E878-EF03-4D95-9BB8-DA24FEED6006}" type="slidenum">
              <a:rPr lang="en-US" smtClean="0"/>
              <a:t>‹#›</a:t>
            </a:fld>
            <a:endParaRPr lang="en-US"/>
          </a:p>
        </p:txBody>
      </p:sp>
    </p:spTree>
    <p:extLst>
      <p:ext uri="{BB962C8B-B14F-4D97-AF65-F5344CB8AC3E}">
        <p14:creationId xmlns:p14="http://schemas.microsoft.com/office/powerpoint/2010/main" val="1056083179"/>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6C89C3-D689-49B2-969F-B8C0E1853A2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2143964-F0BF-48F1-A1F6-835FBC63B905}"/>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1E4A7D6-FA63-44B8-9A04-3B91289946FA}"/>
              </a:ext>
            </a:extLst>
          </p:cNvPr>
          <p:cNvSpPr>
            <a:spLocks noGrp="1"/>
          </p:cNvSpPr>
          <p:nvPr>
            <p:ph type="dt" sz="half" idx="10"/>
          </p:nvPr>
        </p:nvSpPr>
        <p:spPr/>
        <p:txBody>
          <a:bodyPr/>
          <a:lstStyle/>
          <a:p>
            <a:fld id="{0F07BBE5-855A-46A9-8A85-6A87604F4D19}" type="datetimeFigureOut">
              <a:rPr lang="en-US" smtClean="0"/>
              <a:t>4/29/2026</a:t>
            </a:fld>
            <a:endParaRPr lang="en-US"/>
          </a:p>
        </p:txBody>
      </p:sp>
      <p:sp>
        <p:nvSpPr>
          <p:cNvPr id="5" name="Footer Placeholder 4">
            <a:extLst>
              <a:ext uri="{FF2B5EF4-FFF2-40B4-BE49-F238E27FC236}">
                <a16:creationId xmlns:a16="http://schemas.microsoft.com/office/drawing/2014/main" id="{AE143E11-6E20-4FEB-8C1D-F8F1CF9F391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E1BABE6-0B26-48E1-93C4-8A8E7DE0702B}"/>
              </a:ext>
            </a:extLst>
          </p:cNvPr>
          <p:cNvSpPr>
            <a:spLocks noGrp="1"/>
          </p:cNvSpPr>
          <p:nvPr>
            <p:ph type="sldNum" sz="quarter" idx="12"/>
          </p:nvPr>
        </p:nvSpPr>
        <p:spPr/>
        <p:txBody>
          <a:bodyPr/>
          <a:lstStyle/>
          <a:p>
            <a:fld id="{BBA1E878-EF03-4D95-9BB8-DA24FEED6006}" type="slidenum">
              <a:rPr lang="en-US" smtClean="0"/>
              <a:t>‹#›</a:t>
            </a:fld>
            <a:endParaRPr lang="en-US"/>
          </a:p>
        </p:txBody>
      </p:sp>
    </p:spTree>
    <p:extLst>
      <p:ext uri="{BB962C8B-B14F-4D97-AF65-F5344CB8AC3E}">
        <p14:creationId xmlns:p14="http://schemas.microsoft.com/office/powerpoint/2010/main" val="2905448763"/>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9050CCC-5562-4C2C-8D36-AD4244B12467}"/>
              </a:ext>
            </a:extLst>
          </p:cNvPr>
          <p:cNvSpPr>
            <a:spLocks noGrp="1"/>
          </p:cNvSpPr>
          <p:nvPr>
            <p:ph type="title" orient="vert"/>
          </p:nvPr>
        </p:nvSpPr>
        <p:spPr>
          <a:xfrm>
            <a:off x="10469880" y="438150"/>
            <a:ext cx="3154680" cy="6974206"/>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AD1E4CE-9C4D-4E2D-8F18-4CB5B0D57179}"/>
              </a:ext>
            </a:extLst>
          </p:cNvPr>
          <p:cNvSpPr>
            <a:spLocks noGrp="1"/>
          </p:cNvSpPr>
          <p:nvPr>
            <p:ph type="body" orient="vert" idx="1"/>
          </p:nvPr>
        </p:nvSpPr>
        <p:spPr>
          <a:xfrm>
            <a:off x="1005840" y="438150"/>
            <a:ext cx="9281160" cy="6974206"/>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29102D5-9377-46F8-B31A-DB17E336BC58}"/>
              </a:ext>
            </a:extLst>
          </p:cNvPr>
          <p:cNvSpPr>
            <a:spLocks noGrp="1"/>
          </p:cNvSpPr>
          <p:nvPr>
            <p:ph type="dt" sz="half" idx="10"/>
          </p:nvPr>
        </p:nvSpPr>
        <p:spPr/>
        <p:txBody>
          <a:bodyPr/>
          <a:lstStyle/>
          <a:p>
            <a:fld id="{0F07BBE5-855A-46A9-8A85-6A87604F4D19}" type="datetimeFigureOut">
              <a:rPr lang="en-US" smtClean="0"/>
              <a:t>4/29/2026</a:t>
            </a:fld>
            <a:endParaRPr lang="en-US"/>
          </a:p>
        </p:txBody>
      </p:sp>
      <p:sp>
        <p:nvSpPr>
          <p:cNvPr id="5" name="Footer Placeholder 4">
            <a:extLst>
              <a:ext uri="{FF2B5EF4-FFF2-40B4-BE49-F238E27FC236}">
                <a16:creationId xmlns:a16="http://schemas.microsoft.com/office/drawing/2014/main" id="{5C65000C-DF65-4D9F-8F6D-B24668DBB2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E6365F-8373-4C69-BAD0-22EEB43F99A0}"/>
              </a:ext>
            </a:extLst>
          </p:cNvPr>
          <p:cNvSpPr>
            <a:spLocks noGrp="1"/>
          </p:cNvSpPr>
          <p:nvPr>
            <p:ph type="sldNum" sz="quarter" idx="12"/>
          </p:nvPr>
        </p:nvSpPr>
        <p:spPr/>
        <p:txBody>
          <a:bodyPr/>
          <a:lstStyle/>
          <a:p>
            <a:fld id="{BBA1E878-EF03-4D95-9BB8-DA24FEED6006}" type="slidenum">
              <a:rPr lang="en-US" smtClean="0"/>
              <a:t>‹#›</a:t>
            </a:fld>
            <a:endParaRPr lang="en-US"/>
          </a:p>
        </p:txBody>
      </p:sp>
    </p:spTree>
    <p:extLst>
      <p:ext uri="{BB962C8B-B14F-4D97-AF65-F5344CB8AC3E}">
        <p14:creationId xmlns:p14="http://schemas.microsoft.com/office/powerpoint/2010/main" val="33479400"/>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Slide 1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7338940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Slide 2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414729154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Slide 3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995708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Slide 4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4395032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Slide 5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57351742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Slide 6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420135346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Slide 7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94323826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Slide 8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24158018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Slide 9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96732357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Slide 10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5386062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D6AAE33-284B-4F79-9F5A-AFC12B6653DB}"/>
              </a:ext>
            </a:extLst>
          </p:cNvPr>
          <p:cNvSpPr>
            <a:spLocks noGrp="1"/>
          </p:cNvSpPr>
          <p:nvPr>
            <p:ph type="title"/>
          </p:nvPr>
        </p:nvSpPr>
        <p:spPr>
          <a:xfrm>
            <a:off x="1005840" y="438150"/>
            <a:ext cx="12618720" cy="1590676"/>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698B489-5800-4064-8260-E14D82042CE6}"/>
              </a:ext>
            </a:extLst>
          </p:cNvPr>
          <p:cNvSpPr>
            <a:spLocks noGrp="1"/>
          </p:cNvSpPr>
          <p:nvPr>
            <p:ph type="body" idx="1"/>
          </p:nvPr>
        </p:nvSpPr>
        <p:spPr>
          <a:xfrm>
            <a:off x="1005840" y="2190750"/>
            <a:ext cx="12618720" cy="5221606"/>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82EEEE7-1177-4EB4-816B-56A553DB4416}"/>
              </a:ext>
            </a:extLst>
          </p:cNvPr>
          <p:cNvSpPr>
            <a:spLocks noGrp="1"/>
          </p:cNvSpPr>
          <p:nvPr>
            <p:ph type="dt" sz="half" idx="2"/>
          </p:nvPr>
        </p:nvSpPr>
        <p:spPr>
          <a:xfrm>
            <a:off x="1005840" y="7627621"/>
            <a:ext cx="3291840" cy="438150"/>
          </a:xfrm>
          <a:prstGeom prst="rect">
            <a:avLst/>
          </a:prstGeom>
        </p:spPr>
        <p:txBody>
          <a:bodyPr vert="horz" lIns="91440" tIns="45720" rIns="91440" bIns="45720" rtlCol="0" anchor="ctr"/>
          <a:lstStyle>
            <a:lvl1pPr algn="l">
              <a:defRPr sz="1440">
                <a:solidFill>
                  <a:schemeClr val="tx1">
                    <a:tint val="75000"/>
                  </a:schemeClr>
                </a:solidFill>
              </a:defRPr>
            </a:lvl1pPr>
          </a:lstStyle>
          <a:p>
            <a:fld id="{0F07BBE5-855A-46A9-8A85-6A87604F4D19}" type="datetimeFigureOut">
              <a:rPr lang="en-US" smtClean="0"/>
              <a:t>4/29/2026</a:t>
            </a:fld>
            <a:endParaRPr lang="en-US"/>
          </a:p>
        </p:txBody>
      </p:sp>
      <p:sp>
        <p:nvSpPr>
          <p:cNvPr id="5" name="Footer Placeholder 4">
            <a:extLst>
              <a:ext uri="{FF2B5EF4-FFF2-40B4-BE49-F238E27FC236}">
                <a16:creationId xmlns:a16="http://schemas.microsoft.com/office/drawing/2014/main" id="{C2A8DD3A-C222-4F69-B874-3EE28360F9B1}"/>
              </a:ext>
            </a:extLst>
          </p:cNvPr>
          <p:cNvSpPr>
            <a:spLocks noGrp="1"/>
          </p:cNvSpPr>
          <p:nvPr>
            <p:ph type="ftr" sz="quarter" idx="3"/>
          </p:nvPr>
        </p:nvSpPr>
        <p:spPr>
          <a:xfrm>
            <a:off x="4846320" y="7627621"/>
            <a:ext cx="4937760" cy="438150"/>
          </a:xfrm>
          <a:prstGeom prst="rect">
            <a:avLst/>
          </a:prstGeom>
        </p:spPr>
        <p:txBody>
          <a:bodyPr vert="horz" lIns="91440" tIns="45720" rIns="91440" bIns="45720" rtlCol="0" anchor="ctr"/>
          <a:lstStyle>
            <a:lvl1pPr algn="ctr">
              <a:defRPr sz="144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80A3C09-C471-4D87-AC20-6560D73F58E7}"/>
              </a:ext>
            </a:extLst>
          </p:cNvPr>
          <p:cNvSpPr>
            <a:spLocks noGrp="1"/>
          </p:cNvSpPr>
          <p:nvPr>
            <p:ph type="sldNum" sz="quarter" idx="4"/>
          </p:nvPr>
        </p:nvSpPr>
        <p:spPr>
          <a:xfrm>
            <a:off x="10332720" y="7627621"/>
            <a:ext cx="3291840" cy="438150"/>
          </a:xfrm>
          <a:prstGeom prst="rect">
            <a:avLst/>
          </a:prstGeom>
        </p:spPr>
        <p:txBody>
          <a:bodyPr vert="horz" lIns="91440" tIns="45720" rIns="91440" bIns="45720" rtlCol="0" anchor="ctr"/>
          <a:lstStyle>
            <a:lvl1pPr algn="r">
              <a:defRPr sz="1440">
                <a:solidFill>
                  <a:schemeClr val="tx1">
                    <a:tint val="75000"/>
                  </a:schemeClr>
                </a:solidFill>
              </a:defRPr>
            </a:lvl1pPr>
          </a:lstStyle>
          <a:p>
            <a:fld id="{BBA1E878-EF03-4D95-9BB8-DA24FEED6006}" type="slidenum">
              <a:rPr lang="en-US" smtClean="0"/>
              <a:t>‹#›</a:t>
            </a:fld>
            <a:endParaRPr lang="en-US"/>
          </a:p>
        </p:txBody>
      </p:sp>
    </p:spTree>
    <p:extLst>
      <p:ext uri="{BB962C8B-B14F-4D97-AF65-F5344CB8AC3E}">
        <p14:creationId xmlns:p14="http://schemas.microsoft.com/office/powerpoint/2010/main" val="887434544"/>
      </p:ext>
    </p:extLst>
  </p:cSld>
  <p:clrMap bg1="lt1" tx1="dk1" bg2="lt2" tx2="dk2" accent1="accent1" accent2="accent2" accent3="accent3" accent4="accent4" accent5="accent5" accent6="accent6" hlink="hlink" folHlink="folHlink"/>
  <p:sldLayoutIdLst>
    <p:sldLayoutId id="2147483811" r:id="rId1"/>
    <p:sldLayoutId id="2147483812" r:id="rId2"/>
    <p:sldLayoutId id="2147483813" r:id="rId3"/>
    <p:sldLayoutId id="2147483814" r:id="rId4"/>
    <p:sldLayoutId id="2147483815" r:id="rId5"/>
    <p:sldLayoutId id="2147483816" r:id="rId6"/>
    <p:sldLayoutId id="2147483817" r:id="rId7"/>
    <p:sldLayoutId id="2147483818" r:id="rId8"/>
    <p:sldLayoutId id="2147483819" r:id="rId9"/>
    <p:sldLayoutId id="2147483820" r:id="rId10"/>
    <p:sldLayoutId id="2147483821" r:id="rId11"/>
    <p:sldLayoutId id="2147483822" r:id="rId12"/>
    <p:sldLayoutId id="2147483823" r:id="rId13"/>
    <p:sldLayoutId id="2147483824" r:id="rId14"/>
    <p:sldLayoutId id="2147483825" r:id="rId15"/>
    <p:sldLayoutId id="2147483826" r:id="rId16"/>
    <p:sldLayoutId id="2147483827" r:id="rId17"/>
    <p:sldLayoutId id="2147483828" r:id="rId18"/>
    <p:sldLayoutId id="2147483829" r:id="rId19"/>
    <p:sldLayoutId id="2147483830" r:id="rId20"/>
    <p:sldLayoutId id="2147483831" r:id="rId21"/>
  </p:sldLayoutIdLst>
  <p:hf sldNum="0" hdr="0" ftr="0" dt="0"/>
  <p:txStyles>
    <p:titleStyle>
      <a:lvl1pPr algn="l" defTabSz="1097280" rtl="0" eaLnBrk="1" latinLnBrk="0" hangingPunct="1">
        <a:lnSpc>
          <a:spcPct val="90000"/>
        </a:lnSpc>
        <a:spcBef>
          <a:spcPct val="0"/>
        </a:spcBef>
        <a:buNone/>
        <a:defRPr sz="5280" kern="1200">
          <a:solidFill>
            <a:schemeClr val="tx1"/>
          </a:solidFill>
          <a:latin typeface="+mj-lt"/>
          <a:ea typeface="+mj-ea"/>
          <a:cs typeface="+mj-cs"/>
        </a:defRPr>
      </a:lvl1pPr>
    </p:titleStyle>
    <p:bodyStyle>
      <a:lvl1pPr marL="274320" indent="-274320" algn="l" defTabSz="1097280" rtl="0" eaLnBrk="1" latinLnBrk="0" hangingPunct="1">
        <a:lnSpc>
          <a:spcPct val="90000"/>
        </a:lnSpc>
        <a:spcBef>
          <a:spcPts val="1200"/>
        </a:spcBef>
        <a:buFont typeface="Arial" panose="020B0604020202020204" pitchFamily="34" charset="0"/>
        <a:buChar char="•"/>
        <a:defRPr sz="3360" kern="1200">
          <a:solidFill>
            <a:schemeClr val="tx1"/>
          </a:solidFill>
          <a:latin typeface="+mn-lt"/>
          <a:ea typeface="+mn-ea"/>
          <a:cs typeface="+mn-cs"/>
        </a:defRPr>
      </a:lvl1pPr>
      <a:lvl2pPr marL="822960" indent="-274320" algn="l" defTabSz="1097280" rtl="0" eaLnBrk="1" latinLnBrk="0" hangingPunct="1">
        <a:lnSpc>
          <a:spcPct val="90000"/>
        </a:lnSpc>
        <a:spcBef>
          <a:spcPts val="600"/>
        </a:spcBef>
        <a:buFont typeface="Arial" panose="020B0604020202020204" pitchFamily="34" charset="0"/>
        <a:buChar char="•"/>
        <a:defRPr sz="2880" kern="1200">
          <a:solidFill>
            <a:schemeClr val="tx1"/>
          </a:solidFill>
          <a:latin typeface="+mn-lt"/>
          <a:ea typeface="+mn-ea"/>
          <a:cs typeface="+mn-cs"/>
        </a:defRPr>
      </a:lvl2pPr>
      <a:lvl3pPr marL="1371600" indent="-274320" algn="l" defTabSz="1097280" rtl="0" eaLnBrk="1" latinLnBrk="0" hangingPunct="1">
        <a:lnSpc>
          <a:spcPct val="90000"/>
        </a:lnSpc>
        <a:spcBef>
          <a:spcPts val="600"/>
        </a:spcBef>
        <a:buFont typeface="Arial" panose="020B0604020202020204" pitchFamily="34" charset="0"/>
        <a:buChar char="•"/>
        <a:defRPr sz="2400" kern="1200">
          <a:solidFill>
            <a:schemeClr val="tx1"/>
          </a:solidFill>
          <a:latin typeface="+mn-lt"/>
          <a:ea typeface="+mn-ea"/>
          <a:cs typeface="+mn-cs"/>
        </a:defRPr>
      </a:lvl3pPr>
      <a:lvl4pPr marL="19202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4pPr>
      <a:lvl5pPr marL="246888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p:bodyStyle>
    <p:other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9.xml"/><Relationship Id="rId6" Type="http://schemas.openxmlformats.org/officeDocument/2006/relationships/image" Target="../media/image5.svg"/><Relationship Id="rId5" Type="http://schemas.openxmlformats.org/officeDocument/2006/relationships/image" Target="../media/image4.svg"/><Relationship Id="rId4" Type="http://schemas.openxmlformats.org/officeDocument/2006/relationships/image" Target="../media/image3.sv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0.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801409" y="585788"/>
            <a:ext cx="13042821" cy="1240155"/>
          </a:xfrm>
          <a:prstGeom prst="rect">
            <a:avLst/>
          </a:prstGeom>
          <a:noFill/>
          <a:ln/>
        </p:spPr>
        <p:txBody>
          <a:bodyPr wrap="square" lIns="0" tIns="0" rIns="0" bIns="0" rtlCol="0" anchor="t"/>
          <a:lstStyle/>
          <a:p>
            <a:pPr>
              <a:lnSpc>
                <a:spcPts val="4850"/>
              </a:lnSpc>
            </a:pPr>
            <a:r>
              <a:rPr lang="en-US" sz="3900" b="1" dirty="0">
                <a:solidFill>
                  <a:srgbClr val="000000"/>
                </a:solidFill>
                <a:latin typeface="Inter Bold" pitchFamily="34" charset="0"/>
                <a:ea typeface="Inter Bold" pitchFamily="34" charset="-122"/>
                <a:cs typeface="Inter Bold" pitchFamily="34" charset="-120"/>
              </a:rPr>
              <a:t>A Lightweight Adaptive Cost-Aware Work-Stealing Scheduler with Hybrid Work-Stealing and Work-Sharing</a:t>
            </a:r>
            <a:endParaRPr lang="en-US" sz="3900" dirty="0"/>
          </a:p>
        </p:txBody>
      </p:sp>
      <p:sp>
        <p:nvSpPr>
          <p:cNvPr id="3" name="Text 1"/>
          <p:cNvSpPr/>
          <p:nvPr/>
        </p:nvSpPr>
        <p:spPr>
          <a:xfrm>
            <a:off x="793790" y="2576513"/>
            <a:ext cx="13042821" cy="63507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A Project Component for Parallel and Distributed Computing (UCS645) | Thapar Institute of Engineering and Technology (Deemed to be University), Patiala — May 2026</a:t>
            </a:r>
            <a:endParaRPr lang="en-US" sz="1550" dirty="0"/>
          </a:p>
        </p:txBody>
      </p:sp>
      <p:sp>
        <p:nvSpPr>
          <p:cNvPr id="4" name="Text 2"/>
          <p:cNvSpPr/>
          <p:nvPr/>
        </p:nvSpPr>
        <p:spPr>
          <a:xfrm>
            <a:off x="793790" y="3633192"/>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000000"/>
                </a:solidFill>
                <a:latin typeface="Inter Bold" pitchFamily="34" charset="0"/>
                <a:ea typeface="Inter Bold" pitchFamily="34" charset="-122"/>
                <a:cs typeface="Inter Bold" pitchFamily="34" charset="-120"/>
              </a:rPr>
              <a:t>Team Members</a:t>
            </a:r>
            <a:endParaRPr lang="en-US" sz="1950" dirty="0"/>
          </a:p>
        </p:txBody>
      </p:sp>
      <p:sp>
        <p:nvSpPr>
          <p:cNvPr id="5" name="Shape 3"/>
          <p:cNvSpPr/>
          <p:nvPr/>
        </p:nvSpPr>
        <p:spPr>
          <a:xfrm>
            <a:off x="793790" y="4166592"/>
            <a:ext cx="6279356" cy="2900243"/>
          </a:xfrm>
          <a:prstGeom prst="roundRect">
            <a:avLst>
              <a:gd name="adj" fmla="val 2874"/>
            </a:avLst>
          </a:prstGeom>
          <a:noFill/>
          <a:ln w="7620">
            <a:solidFill>
              <a:srgbClr val="000000">
                <a:alpha val="8000"/>
              </a:srgbClr>
            </a:solidFill>
            <a:prstDash val="solid"/>
          </a:ln>
        </p:spPr>
      </p:sp>
      <p:sp>
        <p:nvSpPr>
          <p:cNvPr id="6" name="Text 4"/>
          <p:cNvSpPr/>
          <p:nvPr/>
        </p:nvSpPr>
        <p:spPr>
          <a:xfrm>
            <a:off x="1000601" y="4300895"/>
            <a:ext cx="1686997" cy="317540"/>
          </a:xfrm>
          <a:prstGeom prst="rect">
            <a:avLst/>
          </a:prstGeom>
          <a:noFill/>
          <a:ln/>
        </p:spPr>
        <p:txBody>
          <a:bodyPr wrap="none" lIns="0" tIns="0" rIns="0" bIns="0" rtlCol="0" anchor="t"/>
          <a:lstStyle/>
          <a:p>
            <a:pPr marL="0" indent="0" algn="l">
              <a:lnSpc>
                <a:spcPts val="2500"/>
              </a:lnSpc>
              <a:buNone/>
            </a:pPr>
            <a:r>
              <a:rPr lang="en-US" sz="1550" b="1" dirty="0">
                <a:solidFill>
                  <a:srgbClr val="272525"/>
                </a:solidFill>
                <a:latin typeface="Inter" pitchFamily="34" charset="0"/>
                <a:ea typeface="Inter" pitchFamily="34" charset="-122"/>
                <a:cs typeface="Inter" pitchFamily="34" charset="-120"/>
              </a:rPr>
              <a:t>Sr.</a:t>
            </a:r>
            <a:endParaRPr lang="en-US" sz="1550" dirty="0"/>
          </a:p>
        </p:txBody>
      </p:sp>
      <p:sp>
        <p:nvSpPr>
          <p:cNvPr id="7" name="Text 5"/>
          <p:cNvSpPr/>
          <p:nvPr/>
        </p:nvSpPr>
        <p:spPr>
          <a:xfrm>
            <a:off x="3091934" y="4300895"/>
            <a:ext cx="1683187" cy="317540"/>
          </a:xfrm>
          <a:prstGeom prst="rect">
            <a:avLst/>
          </a:prstGeom>
          <a:noFill/>
          <a:ln/>
        </p:spPr>
        <p:txBody>
          <a:bodyPr wrap="none" lIns="0" tIns="0" rIns="0" bIns="0" rtlCol="0" anchor="t"/>
          <a:lstStyle/>
          <a:p>
            <a:pPr marL="0" indent="0" algn="l">
              <a:lnSpc>
                <a:spcPts val="2500"/>
              </a:lnSpc>
              <a:buNone/>
            </a:pPr>
            <a:r>
              <a:rPr lang="en-US" sz="1550" b="1" dirty="0">
                <a:solidFill>
                  <a:srgbClr val="272525"/>
                </a:solidFill>
                <a:latin typeface="Inter" pitchFamily="34" charset="0"/>
                <a:ea typeface="Inter" pitchFamily="34" charset="-122"/>
                <a:cs typeface="Inter" pitchFamily="34" charset="-120"/>
              </a:rPr>
              <a:t>Name</a:t>
            </a:r>
            <a:endParaRPr lang="en-US" sz="1550" dirty="0"/>
          </a:p>
        </p:txBody>
      </p:sp>
      <p:sp>
        <p:nvSpPr>
          <p:cNvPr id="8" name="Text 6"/>
          <p:cNvSpPr/>
          <p:nvPr/>
        </p:nvSpPr>
        <p:spPr>
          <a:xfrm>
            <a:off x="5179457" y="4300895"/>
            <a:ext cx="1686997" cy="317540"/>
          </a:xfrm>
          <a:prstGeom prst="rect">
            <a:avLst/>
          </a:prstGeom>
          <a:noFill/>
          <a:ln/>
        </p:spPr>
        <p:txBody>
          <a:bodyPr wrap="none" lIns="0" tIns="0" rIns="0" bIns="0" rtlCol="0" anchor="t"/>
          <a:lstStyle/>
          <a:p>
            <a:pPr marL="0" indent="0" algn="l">
              <a:lnSpc>
                <a:spcPts val="2500"/>
              </a:lnSpc>
              <a:buNone/>
            </a:pPr>
            <a:r>
              <a:rPr lang="en-US" sz="1550" b="1" dirty="0">
                <a:solidFill>
                  <a:srgbClr val="272525"/>
                </a:solidFill>
                <a:latin typeface="Inter" pitchFamily="34" charset="0"/>
                <a:ea typeface="Inter" pitchFamily="34" charset="-122"/>
                <a:cs typeface="Inter" pitchFamily="34" charset="-120"/>
              </a:rPr>
              <a:t>Roll No.</a:t>
            </a:r>
            <a:endParaRPr lang="en-US" sz="1550" dirty="0"/>
          </a:p>
        </p:txBody>
      </p:sp>
      <p:sp>
        <p:nvSpPr>
          <p:cNvPr id="9" name="Text 7"/>
          <p:cNvSpPr/>
          <p:nvPr/>
        </p:nvSpPr>
        <p:spPr>
          <a:xfrm>
            <a:off x="1000601" y="4879419"/>
            <a:ext cx="1686997" cy="317540"/>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1</a:t>
            </a:r>
            <a:endParaRPr lang="en-US" sz="1550" dirty="0"/>
          </a:p>
        </p:txBody>
      </p:sp>
      <p:sp>
        <p:nvSpPr>
          <p:cNvPr id="10" name="Text 8"/>
          <p:cNvSpPr/>
          <p:nvPr/>
        </p:nvSpPr>
        <p:spPr>
          <a:xfrm>
            <a:off x="3091934" y="4879419"/>
            <a:ext cx="1683187" cy="317540"/>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Rohini Bansal</a:t>
            </a:r>
            <a:endParaRPr lang="en-US" sz="1550" dirty="0"/>
          </a:p>
        </p:txBody>
      </p:sp>
      <p:sp>
        <p:nvSpPr>
          <p:cNvPr id="11" name="Text 9"/>
          <p:cNvSpPr/>
          <p:nvPr/>
        </p:nvSpPr>
        <p:spPr>
          <a:xfrm>
            <a:off x="5179457" y="4879419"/>
            <a:ext cx="1686997" cy="317540"/>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102317175</a:t>
            </a:r>
            <a:endParaRPr lang="en-US" sz="1550" dirty="0"/>
          </a:p>
        </p:txBody>
      </p:sp>
      <p:sp>
        <p:nvSpPr>
          <p:cNvPr id="12" name="Text 10"/>
          <p:cNvSpPr/>
          <p:nvPr/>
        </p:nvSpPr>
        <p:spPr>
          <a:xfrm>
            <a:off x="1000601" y="5457944"/>
            <a:ext cx="1686997" cy="317540"/>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2</a:t>
            </a:r>
            <a:endParaRPr lang="en-US" sz="1550" dirty="0"/>
          </a:p>
        </p:txBody>
      </p:sp>
      <p:sp>
        <p:nvSpPr>
          <p:cNvPr id="13" name="Text 11"/>
          <p:cNvSpPr/>
          <p:nvPr/>
        </p:nvSpPr>
        <p:spPr>
          <a:xfrm>
            <a:off x="3091934" y="5457944"/>
            <a:ext cx="1683187" cy="317540"/>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Shivam Kumar</a:t>
            </a:r>
            <a:endParaRPr lang="en-US" sz="1550" dirty="0"/>
          </a:p>
        </p:txBody>
      </p:sp>
      <p:sp>
        <p:nvSpPr>
          <p:cNvPr id="14" name="Text 12"/>
          <p:cNvSpPr/>
          <p:nvPr/>
        </p:nvSpPr>
        <p:spPr>
          <a:xfrm>
            <a:off x="5179457" y="5457944"/>
            <a:ext cx="1686997" cy="317540"/>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102497026</a:t>
            </a:r>
            <a:endParaRPr lang="en-US" sz="1550" dirty="0"/>
          </a:p>
        </p:txBody>
      </p:sp>
      <p:sp>
        <p:nvSpPr>
          <p:cNvPr id="15" name="Text 13"/>
          <p:cNvSpPr/>
          <p:nvPr/>
        </p:nvSpPr>
        <p:spPr>
          <a:xfrm>
            <a:off x="1000601" y="6036469"/>
            <a:ext cx="1686997" cy="317540"/>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3</a:t>
            </a:r>
            <a:endParaRPr lang="en-US" sz="1550" dirty="0"/>
          </a:p>
        </p:txBody>
      </p:sp>
      <p:sp>
        <p:nvSpPr>
          <p:cNvPr id="16" name="Text 14"/>
          <p:cNvSpPr/>
          <p:nvPr/>
        </p:nvSpPr>
        <p:spPr>
          <a:xfrm>
            <a:off x="3091934" y="6036469"/>
            <a:ext cx="1683187" cy="317540"/>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Sudhanshu Raj</a:t>
            </a:r>
            <a:endParaRPr lang="en-US" sz="1550" dirty="0"/>
          </a:p>
        </p:txBody>
      </p:sp>
      <p:sp>
        <p:nvSpPr>
          <p:cNvPr id="17" name="Text 15"/>
          <p:cNvSpPr/>
          <p:nvPr/>
        </p:nvSpPr>
        <p:spPr>
          <a:xfrm>
            <a:off x="5179457" y="6036469"/>
            <a:ext cx="1686997" cy="317540"/>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102483063</a:t>
            </a:r>
            <a:endParaRPr lang="en-US" sz="1550" dirty="0"/>
          </a:p>
        </p:txBody>
      </p:sp>
      <p:sp>
        <p:nvSpPr>
          <p:cNvPr id="18" name="Text 16"/>
          <p:cNvSpPr/>
          <p:nvPr/>
        </p:nvSpPr>
        <p:spPr>
          <a:xfrm>
            <a:off x="1000601" y="6614993"/>
            <a:ext cx="1686997" cy="317540"/>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4</a:t>
            </a:r>
            <a:endParaRPr lang="en-US" sz="1550" dirty="0"/>
          </a:p>
        </p:txBody>
      </p:sp>
      <p:sp>
        <p:nvSpPr>
          <p:cNvPr id="19" name="Text 17"/>
          <p:cNvSpPr/>
          <p:nvPr/>
        </p:nvSpPr>
        <p:spPr>
          <a:xfrm>
            <a:off x="3091934" y="6614993"/>
            <a:ext cx="1683187" cy="317540"/>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Ankit Kumar</a:t>
            </a:r>
            <a:endParaRPr lang="en-US" sz="1550" dirty="0"/>
          </a:p>
        </p:txBody>
      </p:sp>
      <p:sp>
        <p:nvSpPr>
          <p:cNvPr id="20" name="Text 18"/>
          <p:cNvSpPr/>
          <p:nvPr/>
        </p:nvSpPr>
        <p:spPr>
          <a:xfrm>
            <a:off x="5179457" y="6614993"/>
            <a:ext cx="1686997" cy="317540"/>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102483012</a:t>
            </a:r>
            <a:endParaRPr lang="en-US" sz="1550" dirty="0"/>
          </a:p>
        </p:txBody>
      </p:sp>
      <p:sp>
        <p:nvSpPr>
          <p:cNvPr id="22" name="Text 20"/>
          <p:cNvSpPr/>
          <p:nvPr/>
        </p:nvSpPr>
        <p:spPr>
          <a:xfrm>
            <a:off x="7564874" y="4141708"/>
            <a:ext cx="6279356" cy="2540318"/>
          </a:xfrm>
          <a:prstGeom prst="rect">
            <a:avLst/>
          </a:prstGeom>
          <a:noFill/>
          <a:ln/>
        </p:spPr>
        <p:txBody>
          <a:bodyPr wrap="square" lIns="0" tIns="0" rIns="0" bIns="0" rtlCol="0" anchor="t"/>
          <a:lstStyle/>
          <a:p>
            <a:pPr marL="0" indent="0" algn="l">
              <a:lnSpc>
                <a:spcPts val="2500"/>
              </a:lnSpc>
              <a:buNone/>
            </a:pPr>
            <a:r>
              <a:rPr lang="en-US" sz="1550" b="1" dirty="0">
                <a:solidFill>
                  <a:srgbClr val="272525"/>
                </a:solidFill>
                <a:latin typeface="Inter" pitchFamily="34" charset="0"/>
                <a:ea typeface="Inter" pitchFamily="34" charset="-122"/>
                <a:cs typeface="Inter" pitchFamily="34" charset="-120"/>
              </a:rPr>
              <a:t>Project guide:</a:t>
            </a:r>
            <a:r>
              <a:rPr lang="en-US" sz="1550" dirty="0">
                <a:solidFill>
                  <a:srgbClr val="272525"/>
                </a:solidFill>
                <a:latin typeface="Inter" pitchFamily="34" charset="0"/>
                <a:ea typeface="Inter" pitchFamily="34" charset="-122"/>
                <a:cs typeface="Inter" pitchFamily="34" charset="-120"/>
              </a:rPr>
              <a:t> Dr. Saif Nalband</a:t>
            </a:r>
            <a:endParaRPr lang="en-US" sz="1550" dirty="0"/>
          </a:p>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Assistant Professor, DCSE</a:t>
            </a:r>
            <a:endParaRPr lang="en-US" sz="1550" dirty="0"/>
          </a:p>
          <a:p>
            <a:pPr marL="0" indent="0" algn="l">
              <a:lnSpc>
                <a:spcPts val="2500"/>
              </a:lnSpc>
              <a:buNone/>
            </a:pPr>
            <a:r>
              <a:rPr lang="en-US" sz="1550" b="1" dirty="0">
                <a:solidFill>
                  <a:srgbClr val="272525"/>
                </a:solidFill>
                <a:latin typeface="Inter" pitchFamily="34" charset="0"/>
                <a:ea typeface="Inter" pitchFamily="34" charset="-122"/>
                <a:cs typeface="Inter" pitchFamily="34" charset="-120"/>
              </a:rPr>
              <a:t>Department:</a:t>
            </a:r>
            <a:r>
              <a:rPr lang="en-US" sz="1550" dirty="0">
                <a:solidFill>
                  <a:srgbClr val="272525"/>
                </a:solidFill>
                <a:latin typeface="Inter" pitchFamily="34" charset="0"/>
                <a:ea typeface="Inter" pitchFamily="34" charset="-122"/>
                <a:cs typeface="Inter" pitchFamily="34" charset="-120"/>
              </a:rPr>
              <a:t> Computer Science and Engineering</a:t>
            </a:r>
            <a:endParaRPr lang="en-US" sz="1550" dirty="0"/>
          </a:p>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Thapar Institute of Engineering and Technology</a:t>
            </a:r>
            <a:endParaRPr lang="en-US" sz="1550" dirty="0"/>
          </a:p>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Patiala – 147004</a:t>
            </a:r>
            <a:endParaRPr lang="en-US" sz="1550" dirty="0"/>
          </a:p>
          <a:p>
            <a:pPr marL="0" indent="0" algn="l">
              <a:lnSpc>
                <a:spcPts val="2500"/>
              </a:lnSpc>
              <a:buNone/>
            </a:pPr>
            <a:r>
              <a:rPr lang="en-US" sz="1550" b="1" dirty="0">
                <a:solidFill>
                  <a:srgbClr val="272525"/>
                </a:solidFill>
                <a:latin typeface="Inter" pitchFamily="34" charset="0"/>
                <a:ea typeface="Inter" pitchFamily="34" charset="-122"/>
                <a:cs typeface="Inter" pitchFamily="34" charset="-120"/>
              </a:rPr>
              <a:t>Submission:</a:t>
            </a:r>
            <a:r>
              <a:rPr lang="en-US" sz="1550" dirty="0">
                <a:solidFill>
                  <a:srgbClr val="272525"/>
                </a:solidFill>
                <a:latin typeface="Inter" pitchFamily="34" charset="0"/>
                <a:ea typeface="Inter" pitchFamily="34" charset="-122"/>
                <a:cs typeface="Inter" pitchFamily="34" charset="-120"/>
              </a:rPr>
              <a:t> April 2026</a:t>
            </a:r>
            <a:endParaRPr lang="en-US" sz="15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836057"/>
            <a:ext cx="7797879" cy="620078"/>
          </a:xfrm>
          <a:prstGeom prst="rect">
            <a:avLst/>
          </a:prstGeom>
          <a:noFill/>
          <a:ln/>
        </p:spPr>
        <p:txBody>
          <a:bodyPr wrap="none" lIns="0" tIns="0" rIns="0" bIns="0" rtlCol="0" anchor="t"/>
          <a:lstStyle/>
          <a:p>
            <a:pPr marL="0" indent="0" algn="l">
              <a:lnSpc>
                <a:spcPts val="4850"/>
              </a:lnSpc>
              <a:buNone/>
            </a:pPr>
            <a:r>
              <a:rPr lang="en-US" sz="3900" b="1" dirty="0">
                <a:solidFill>
                  <a:srgbClr val="000000"/>
                </a:solidFill>
                <a:latin typeface="Inter Bold" pitchFamily="34" charset="0"/>
                <a:ea typeface="Inter Bold" pitchFamily="34" charset="-122"/>
                <a:cs typeface="Inter Bold" pitchFamily="34" charset="-120"/>
              </a:rPr>
              <a:t>Problem Statement &amp; Motivation</a:t>
            </a:r>
            <a:endParaRPr lang="en-US" sz="3900" dirty="0"/>
          </a:p>
        </p:txBody>
      </p:sp>
      <p:sp>
        <p:nvSpPr>
          <p:cNvPr id="3" name="Text 1"/>
          <p:cNvSpPr/>
          <p:nvPr/>
        </p:nvSpPr>
        <p:spPr>
          <a:xfrm>
            <a:off x="793790" y="1852970"/>
            <a:ext cx="13042821" cy="63507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Efficient task scheduling is a foundational requirement for achieving maximal parallelism and resource utilization in High Performance Computing (HPC). Yet classical approaches fall short in practice, each introducing distinct and costly trade-offs.</a:t>
            </a:r>
            <a:endParaRPr lang="en-US" sz="1550" dirty="0"/>
          </a:p>
        </p:txBody>
      </p:sp>
      <p:sp>
        <p:nvSpPr>
          <p:cNvPr id="4" name="Shape 2"/>
          <p:cNvSpPr/>
          <p:nvPr/>
        </p:nvSpPr>
        <p:spPr>
          <a:xfrm>
            <a:off x="793790" y="2711291"/>
            <a:ext cx="4215289" cy="4682133"/>
          </a:xfrm>
          <a:prstGeom prst="roundRect">
            <a:avLst>
              <a:gd name="adj" fmla="val 2603"/>
            </a:avLst>
          </a:prstGeom>
          <a:solidFill>
            <a:srgbClr val="FFFFFF"/>
          </a:solidFill>
          <a:ln w="22860">
            <a:solidFill>
              <a:srgbClr val="C0C1D7"/>
            </a:solidFill>
            <a:prstDash val="solid"/>
          </a:ln>
        </p:spPr>
      </p:sp>
      <p:sp>
        <p:nvSpPr>
          <p:cNvPr id="5" name="Shape 3"/>
          <p:cNvSpPr/>
          <p:nvPr/>
        </p:nvSpPr>
        <p:spPr>
          <a:xfrm>
            <a:off x="770930" y="2711291"/>
            <a:ext cx="91440" cy="4682133"/>
          </a:xfrm>
          <a:prstGeom prst="roundRect">
            <a:avLst>
              <a:gd name="adj" fmla="val 91163"/>
            </a:avLst>
          </a:prstGeom>
          <a:solidFill>
            <a:srgbClr val="4950BC"/>
          </a:solidFill>
          <a:ln/>
        </p:spPr>
      </p:sp>
      <p:sp>
        <p:nvSpPr>
          <p:cNvPr id="6" name="Text 4"/>
          <p:cNvSpPr/>
          <p:nvPr/>
        </p:nvSpPr>
        <p:spPr>
          <a:xfrm>
            <a:off x="1083588" y="2932509"/>
            <a:ext cx="3704273" cy="620316"/>
          </a:xfrm>
          <a:prstGeom prst="rect">
            <a:avLst/>
          </a:prstGeom>
          <a:noFill/>
          <a:ln/>
        </p:spPr>
        <p:txBody>
          <a:bodyPr wrap="square" lIns="0" tIns="0" rIns="0" bIns="0" rtlCol="0" anchor="t"/>
          <a:lstStyle/>
          <a:p>
            <a:pPr marL="0" indent="0" algn="l">
              <a:lnSpc>
                <a:spcPts val="2400"/>
              </a:lnSpc>
              <a:buNone/>
            </a:pPr>
            <a:r>
              <a:rPr lang="en-US" sz="1950" b="1" dirty="0">
                <a:solidFill>
                  <a:srgbClr val="272525"/>
                </a:solidFill>
                <a:latin typeface="Inter Bold" pitchFamily="34" charset="0"/>
                <a:ea typeface="Inter Bold" pitchFamily="34" charset="-122"/>
                <a:cs typeface="Inter Bold" pitchFamily="34" charset="-120"/>
              </a:rPr>
              <a:t>Static Scheduling: Load Imbalance</a:t>
            </a:r>
            <a:endParaRPr lang="en-US" sz="1950" dirty="0"/>
          </a:p>
        </p:txBody>
      </p:sp>
      <p:sp>
        <p:nvSpPr>
          <p:cNvPr id="7" name="Text 5"/>
          <p:cNvSpPr/>
          <p:nvPr/>
        </p:nvSpPr>
        <p:spPr>
          <a:xfrm>
            <a:off x="1083588" y="3671888"/>
            <a:ext cx="3704273" cy="2857857"/>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Traditional static allocation assigns tasks to processors at compile-time without accounting for runtime variability. When task durations differ — as they do in recursive and irregular workloads — some processors become idle while others remain overloaded, directly degrading throughput and wasting CPU cycles.</a:t>
            </a:r>
            <a:endParaRPr lang="en-US" sz="1550" dirty="0"/>
          </a:p>
        </p:txBody>
      </p:sp>
      <p:sp>
        <p:nvSpPr>
          <p:cNvPr id="8" name="Shape 6"/>
          <p:cNvSpPr/>
          <p:nvPr/>
        </p:nvSpPr>
        <p:spPr>
          <a:xfrm>
            <a:off x="5207437" y="2711291"/>
            <a:ext cx="4215408" cy="4682133"/>
          </a:xfrm>
          <a:prstGeom prst="roundRect">
            <a:avLst>
              <a:gd name="adj" fmla="val 2603"/>
            </a:avLst>
          </a:prstGeom>
          <a:solidFill>
            <a:srgbClr val="FFFFFF"/>
          </a:solidFill>
          <a:ln w="22860">
            <a:solidFill>
              <a:srgbClr val="C0C1D7"/>
            </a:solidFill>
            <a:prstDash val="solid"/>
          </a:ln>
        </p:spPr>
      </p:sp>
      <p:sp>
        <p:nvSpPr>
          <p:cNvPr id="9" name="Shape 7"/>
          <p:cNvSpPr/>
          <p:nvPr/>
        </p:nvSpPr>
        <p:spPr>
          <a:xfrm>
            <a:off x="5184577" y="2711291"/>
            <a:ext cx="91440" cy="4682133"/>
          </a:xfrm>
          <a:prstGeom prst="roundRect">
            <a:avLst>
              <a:gd name="adj" fmla="val 91163"/>
            </a:avLst>
          </a:prstGeom>
          <a:solidFill>
            <a:srgbClr val="4950BC"/>
          </a:solidFill>
          <a:ln/>
        </p:spPr>
      </p:sp>
      <p:sp>
        <p:nvSpPr>
          <p:cNvPr id="10" name="Text 8"/>
          <p:cNvSpPr/>
          <p:nvPr/>
        </p:nvSpPr>
        <p:spPr>
          <a:xfrm>
            <a:off x="5497235" y="2932509"/>
            <a:ext cx="3704392" cy="620316"/>
          </a:xfrm>
          <a:prstGeom prst="rect">
            <a:avLst/>
          </a:prstGeom>
          <a:noFill/>
          <a:ln/>
        </p:spPr>
        <p:txBody>
          <a:bodyPr wrap="square" lIns="0" tIns="0" rIns="0" bIns="0" rtlCol="0" anchor="t"/>
          <a:lstStyle/>
          <a:p>
            <a:pPr marL="0" indent="0" algn="l">
              <a:lnSpc>
                <a:spcPts val="2400"/>
              </a:lnSpc>
              <a:buNone/>
            </a:pPr>
            <a:r>
              <a:rPr lang="en-US" sz="1950" b="1" dirty="0">
                <a:solidFill>
                  <a:srgbClr val="272525"/>
                </a:solidFill>
                <a:latin typeface="Inter Bold" pitchFamily="34" charset="0"/>
                <a:ea typeface="Inter Bold" pitchFamily="34" charset="-122"/>
                <a:cs typeface="Inter Bold" pitchFamily="34" charset="-120"/>
              </a:rPr>
              <a:t>Work-Stealing: Overhead Bottleneck</a:t>
            </a:r>
            <a:endParaRPr lang="en-US" sz="1950" dirty="0"/>
          </a:p>
        </p:txBody>
      </p:sp>
      <p:sp>
        <p:nvSpPr>
          <p:cNvPr id="11" name="Text 9"/>
          <p:cNvSpPr/>
          <p:nvPr/>
        </p:nvSpPr>
        <p:spPr>
          <a:xfrm>
            <a:off x="5497235" y="3671888"/>
            <a:ext cx="3704392" cy="3492937"/>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Dynamic work-stealing, introduced by Blumofe &amp; Leiserson (1999), allows idle workers to acquire tasks from busy workers at runtime, improving load balance. However, in practice, indiscriminate stealing of microscopically small tasks introduces heavy synchronization overhead, lock contention, and context-switching costs that can negate the performance gains entirely.</a:t>
            </a:r>
            <a:endParaRPr lang="en-US" sz="1550" dirty="0"/>
          </a:p>
        </p:txBody>
      </p:sp>
      <p:sp>
        <p:nvSpPr>
          <p:cNvPr id="12" name="Shape 10"/>
          <p:cNvSpPr/>
          <p:nvPr/>
        </p:nvSpPr>
        <p:spPr>
          <a:xfrm>
            <a:off x="9621203" y="2711291"/>
            <a:ext cx="4215289" cy="4682133"/>
          </a:xfrm>
          <a:prstGeom prst="roundRect">
            <a:avLst>
              <a:gd name="adj" fmla="val 2603"/>
            </a:avLst>
          </a:prstGeom>
          <a:solidFill>
            <a:srgbClr val="FFFFFF"/>
          </a:solidFill>
          <a:ln w="22860">
            <a:solidFill>
              <a:srgbClr val="C0C1D7"/>
            </a:solidFill>
            <a:prstDash val="solid"/>
          </a:ln>
        </p:spPr>
      </p:sp>
      <p:sp>
        <p:nvSpPr>
          <p:cNvPr id="13" name="Shape 11"/>
          <p:cNvSpPr/>
          <p:nvPr/>
        </p:nvSpPr>
        <p:spPr>
          <a:xfrm>
            <a:off x="9598343" y="2711291"/>
            <a:ext cx="91440" cy="4682133"/>
          </a:xfrm>
          <a:prstGeom prst="roundRect">
            <a:avLst>
              <a:gd name="adj" fmla="val 91163"/>
            </a:avLst>
          </a:prstGeom>
          <a:solidFill>
            <a:srgbClr val="4950BC"/>
          </a:solidFill>
          <a:ln/>
        </p:spPr>
      </p:sp>
      <p:sp>
        <p:nvSpPr>
          <p:cNvPr id="14" name="Text 12"/>
          <p:cNvSpPr/>
          <p:nvPr/>
        </p:nvSpPr>
        <p:spPr>
          <a:xfrm>
            <a:off x="9911001" y="2932509"/>
            <a:ext cx="3357920" cy="310158"/>
          </a:xfrm>
          <a:prstGeom prst="rect">
            <a:avLst/>
          </a:prstGeom>
          <a:noFill/>
          <a:ln/>
        </p:spPr>
        <p:txBody>
          <a:bodyPr wrap="none" lIns="0" tIns="0" rIns="0" bIns="0" rtlCol="0" anchor="t"/>
          <a:lstStyle/>
          <a:p>
            <a:pPr marL="0" indent="0" algn="l">
              <a:lnSpc>
                <a:spcPts val="2400"/>
              </a:lnSpc>
              <a:buNone/>
            </a:pPr>
            <a:r>
              <a:rPr lang="en-US" sz="1950" b="1" dirty="0">
                <a:solidFill>
                  <a:srgbClr val="272525"/>
                </a:solidFill>
                <a:latin typeface="Inter Bold" pitchFamily="34" charset="0"/>
                <a:ea typeface="Inter Bold" pitchFamily="34" charset="-122"/>
                <a:cs typeface="Inter Bold" pitchFamily="34" charset="-120"/>
              </a:rPr>
              <a:t>The Missing Adaptive Layer</a:t>
            </a:r>
            <a:endParaRPr lang="en-US" sz="1950" dirty="0"/>
          </a:p>
        </p:txBody>
      </p:sp>
      <p:sp>
        <p:nvSpPr>
          <p:cNvPr id="15" name="Text 13"/>
          <p:cNvSpPr/>
          <p:nvPr/>
        </p:nvSpPr>
        <p:spPr>
          <a:xfrm>
            <a:off x="9911001" y="3361730"/>
            <a:ext cx="3704273" cy="3810476"/>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Neither purely static nor purely reactive dynamic schedulers are equipped to intelligently decide </a:t>
            </a:r>
            <a:r>
              <a:rPr lang="en-US" sz="1550" i="1" dirty="0">
                <a:solidFill>
                  <a:srgbClr val="272525"/>
                </a:solidFill>
                <a:latin typeface="Inter" pitchFamily="34" charset="0"/>
                <a:ea typeface="Inter" pitchFamily="34" charset="-122"/>
                <a:cs typeface="Inter" pitchFamily="34" charset="-120"/>
              </a:rPr>
              <a:t>when</a:t>
            </a:r>
            <a:r>
              <a:rPr lang="en-US" sz="1550" dirty="0">
                <a:solidFill>
                  <a:srgbClr val="272525"/>
                </a:solidFill>
                <a:latin typeface="Inter" pitchFamily="34" charset="0"/>
                <a:ea typeface="Inter" pitchFamily="34" charset="-122"/>
                <a:cs typeface="Inter" pitchFamily="34" charset="-120"/>
              </a:rPr>
              <a:t> to steal, </a:t>
            </a:r>
            <a:r>
              <a:rPr lang="en-US" sz="1550" i="1" dirty="0">
                <a:solidFill>
                  <a:srgbClr val="272525"/>
                </a:solidFill>
                <a:latin typeface="Inter" pitchFamily="34" charset="0"/>
                <a:ea typeface="Inter" pitchFamily="34" charset="-122"/>
                <a:cs typeface="Inter" pitchFamily="34" charset="-120"/>
              </a:rPr>
              <a:t>what</a:t>
            </a:r>
            <a:r>
              <a:rPr lang="en-US" sz="1550" dirty="0">
                <a:solidFill>
                  <a:srgbClr val="272525"/>
                </a:solidFill>
                <a:latin typeface="Inter" pitchFamily="34" charset="0"/>
                <a:ea typeface="Inter" pitchFamily="34" charset="-122"/>
                <a:cs typeface="Inter" pitchFamily="34" charset="-120"/>
              </a:rPr>
              <a:t> to steal, and </a:t>
            </a:r>
            <a:r>
              <a:rPr lang="en-US" sz="1550" i="1" dirty="0">
                <a:solidFill>
                  <a:srgbClr val="272525"/>
                </a:solidFill>
                <a:latin typeface="Inter" pitchFamily="34" charset="0"/>
                <a:ea typeface="Inter" pitchFamily="34" charset="-122"/>
                <a:cs typeface="Inter" pitchFamily="34" charset="-120"/>
              </a:rPr>
              <a:t>from whom</a:t>
            </a:r>
            <a:r>
              <a:rPr lang="en-US" sz="1550" dirty="0">
                <a:solidFill>
                  <a:srgbClr val="272525"/>
                </a:solidFill>
                <a:latin typeface="Inter" pitchFamily="34" charset="0"/>
                <a:ea typeface="Inter" pitchFamily="34" charset="-122"/>
                <a:cs typeface="Inter" pitchFamily="34" charset="-120"/>
              </a:rPr>
              <a:t>. There is a critical gap for an adaptive mechanism that combines proactive task sharing with reactive stealing — gated by task cost estimates and guided by thread locality — to minimize overhead while sustaining effective load balance across both regular and irregular workloads.</a:t>
            </a:r>
            <a:endParaRPr lang="en-US" sz="15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19376" y="815340"/>
            <a:ext cx="4496633" cy="562094"/>
          </a:xfrm>
          <a:prstGeom prst="rect">
            <a:avLst/>
          </a:prstGeom>
          <a:noFill/>
          <a:ln/>
        </p:spPr>
        <p:txBody>
          <a:bodyPr wrap="none" lIns="0" tIns="0" rIns="0" bIns="0" rtlCol="0" anchor="t"/>
          <a:lstStyle/>
          <a:p>
            <a:pPr marL="0" indent="0" algn="l">
              <a:lnSpc>
                <a:spcPts val="4400"/>
              </a:lnSpc>
              <a:buNone/>
            </a:pPr>
            <a:r>
              <a:rPr lang="en-US" sz="3500" b="1" dirty="0">
                <a:solidFill>
                  <a:srgbClr val="000000"/>
                </a:solidFill>
                <a:latin typeface="Inter Bold" pitchFamily="34" charset="0"/>
                <a:ea typeface="Inter Bold" pitchFamily="34" charset="-122"/>
                <a:cs typeface="Inter Bold" pitchFamily="34" charset="-120"/>
              </a:rPr>
              <a:t>Objectives</a:t>
            </a:r>
            <a:endParaRPr lang="en-US" sz="3500" dirty="0"/>
          </a:p>
        </p:txBody>
      </p:sp>
      <p:sp>
        <p:nvSpPr>
          <p:cNvPr id="3" name="Text 1"/>
          <p:cNvSpPr/>
          <p:nvPr/>
        </p:nvSpPr>
        <p:spPr>
          <a:xfrm>
            <a:off x="719376" y="1703427"/>
            <a:ext cx="13191649" cy="548640"/>
          </a:xfrm>
          <a:prstGeom prst="rect">
            <a:avLst/>
          </a:prstGeom>
          <a:noFill/>
          <a:ln/>
        </p:spPr>
        <p:txBody>
          <a:bodyPr wrap="square" lIns="0" tIns="0" rIns="0" bIns="0" rtlCol="0" anchor="t"/>
          <a:lstStyle/>
          <a:p>
            <a:pPr marL="0" indent="0" algn="l">
              <a:lnSpc>
                <a:spcPts val="2150"/>
              </a:lnSpc>
              <a:buNone/>
            </a:pPr>
            <a:r>
              <a:rPr lang="en-US" sz="1400" dirty="0">
                <a:solidFill>
                  <a:srgbClr val="272525"/>
                </a:solidFill>
                <a:latin typeface="Inter" pitchFamily="34" charset="0"/>
                <a:ea typeface="Inter" pitchFamily="34" charset="-122"/>
                <a:cs typeface="Inter" pitchFamily="34" charset="-120"/>
              </a:rPr>
              <a:t>This project is structured around four primary technical objectives, each targeting a specific gap in the state of parallel task scheduling research and practice.</a:t>
            </a:r>
            <a:endParaRPr lang="en-US" sz="1400" dirty="0"/>
          </a:p>
        </p:txBody>
      </p:sp>
      <p:sp>
        <p:nvSpPr>
          <p:cNvPr id="4" name="Shape 2"/>
          <p:cNvSpPr/>
          <p:nvPr/>
        </p:nvSpPr>
        <p:spPr>
          <a:xfrm>
            <a:off x="719376" y="2435423"/>
            <a:ext cx="6514267" cy="2411730"/>
          </a:xfrm>
          <a:prstGeom prst="roundRect">
            <a:avLst>
              <a:gd name="adj" fmla="val 3132"/>
            </a:avLst>
          </a:prstGeom>
          <a:solidFill>
            <a:srgbClr val="FFFFFF"/>
          </a:solidFill>
          <a:ln w="22860">
            <a:solidFill>
              <a:srgbClr val="C0C1D7"/>
            </a:solidFill>
            <a:prstDash val="solid"/>
          </a:ln>
        </p:spPr>
      </p:sp>
      <p:sp>
        <p:nvSpPr>
          <p:cNvPr id="5" name="Shape 3"/>
          <p:cNvSpPr/>
          <p:nvPr/>
        </p:nvSpPr>
        <p:spPr>
          <a:xfrm>
            <a:off x="742236" y="2458283"/>
            <a:ext cx="6468547" cy="539591"/>
          </a:xfrm>
          <a:prstGeom prst="roundRect">
            <a:avLst>
              <a:gd name="adj" fmla="val 8916"/>
            </a:avLst>
          </a:prstGeom>
          <a:solidFill>
            <a:srgbClr val="DADBF1"/>
          </a:solidFill>
          <a:ln/>
        </p:spPr>
      </p:sp>
      <p:sp>
        <p:nvSpPr>
          <p:cNvPr id="6" name="Text 4"/>
          <p:cNvSpPr/>
          <p:nvPr/>
        </p:nvSpPr>
        <p:spPr>
          <a:xfrm>
            <a:off x="3841552" y="2555677"/>
            <a:ext cx="269796" cy="337185"/>
          </a:xfrm>
          <a:prstGeom prst="rect">
            <a:avLst/>
          </a:prstGeom>
          <a:noFill/>
          <a:ln/>
        </p:spPr>
        <p:txBody>
          <a:bodyPr wrap="none" lIns="0" tIns="0" rIns="0" bIns="0" rtlCol="0" anchor="t"/>
          <a:lstStyle/>
          <a:p>
            <a:pPr marL="0" indent="0" algn="l">
              <a:lnSpc>
                <a:spcPts val="2100"/>
              </a:lnSpc>
              <a:buNone/>
            </a:pPr>
            <a:r>
              <a:rPr lang="en-US" sz="2100" b="1" dirty="0">
                <a:solidFill>
                  <a:srgbClr val="272525"/>
                </a:solidFill>
                <a:latin typeface="Inter Bold" pitchFamily="34" charset="0"/>
                <a:ea typeface="Inter Bold" pitchFamily="34" charset="-122"/>
                <a:cs typeface="Inter Bold" pitchFamily="34" charset="-120"/>
              </a:rPr>
              <a:t>1</a:t>
            </a:r>
            <a:endParaRPr lang="en-US" sz="2100" dirty="0"/>
          </a:p>
        </p:txBody>
      </p:sp>
      <p:sp>
        <p:nvSpPr>
          <p:cNvPr id="7" name="Text 5"/>
          <p:cNvSpPr/>
          <p:nvPr/>
        </p:nvSpPr>
        <p:spPr>
          <a:xfrm>
            <a:off x="922020" y="3160871"/>
            <a:ext cx="5034915" cy="280988"/>
          </a:xfrm>
          <a:prstGeom prst="rect">
            <a:avLst/>
          </a:prstGeom>
          <a:noFill/>
          <a:ln/>
        </p:spPr>
        <p:txBody>
          <a:bodyPr wrap="none" lIns="0" tIns="0" rIns="0" bIns="0" rtlCol="0" anchor="t"/>
          <a:lstStyle/>
          <a:p>
            <a:pPr marL="0" indent="0" algn="l">
              <a:lnSpc>
                <a:spcPts val="2200"/>
              </a:lnSpc>
              <a:buNone/>
            </a:pPr>
            <a:r>
              <a:rPr lang="en-US" sz="1750" b="1" dirty="0">
                <a:solidFill>
                  <a:srgbClr val="272525"/>
                </a:solidFill>
                <a:latin typeface="Inter Bold" pitchFamily="34" charset="0"/>
                <a:ea typeface="Inter Bold" pitchFamily="34" charset="-122"/>
                <a:cs typeface="Inter Bold" pitchFamily="34" charset="-120"/>
              </a:rPr>
              <a:t>Design a Parallel Task Scheduler from Scratch</a:t>
            </a:r>
            <a:endParaRPr lang="en-US" sz="1750" dirty="0"/>
          </a:p>
        </p:txBody>
      </p:sp>
      <p:sp>
        <p:nvSpPr>
          <p:cNvPr id="8" name="Text 6"/>
          <p:cNvSpPr/>
          <p:nvPr/>
        </p:nvSpPr>
        <p:spPr>
          <a:xfrm>
            <a:off x="922020" y="3539609"/>
            <a:ext cx="6108978" cy="1104900"/>
          </a:xfrm>
          <a:prstGeom prst="rect">
            <a:avLst/>
          </a:prstGeom>
          <a:noFill/>
          <a:ln/>
        </p:spPr>
        <p:txBody>
          <a:bodyPr wrap="square" lIns="0" tIns="0" rIns="0" bIns="0" rtlCol="0" anchor="t"/>
          <a:lstStyle/>
          <a:p>
            <a:pPr marL="0" indent="0" algn="l">
              <a:lnSpc>
                <a:spcPts val="2150"/>
              </a:lnSpc>
              <a:buNone/>
            </a:pPr>
            <a:r>
              <a:rPr lang="en-US" sz="1400" dirty="0">
                <a:solidFill>
                  <a:srgbClr val="272525"/>
                </a:solidFill>
                <a:latin typeface="Inter" pitchFamily="34" charset="0"/>
                <a:ea typeface="Inter" pitchFamily="34" charset="-122"/>
                <a:cs typeface="Inter" pitchFamily="34" charset="-120"/>
              </a:rPr>
              <a:t>Engineer a fully custom parallel scheduler in C++17 using native concurrency primitives (</a:t>
            </a:r>
            <a:r>
              <a:rPr lang="en-US" sz="1400" dirty="0">
                <a:solidFill>
                  <a:srgbClr val="272525"/>
                </a:solidFill>
                <a:highlight>
                  <a:srgbClr val="F2F2F2"/>
                </a:highlight>
                <a:latin typeface="Consolas" pitchFamily="34" charset="0"/>
                <a:ea typeface="Consolas" pitchFamily="34" charset="-122"/>
                <a:cs typeface="Consolas" pitchFamily="34" charset="-120"/>
              </a:rPr>
              <a:t>std::thread</a:t>
            </a:r>
            <a:r>
              <a:rPr lang="en-US" sz="1400" dirty="0">
                <a:solidFill>
                  <a:srgbClr val="272525"/>
                </a:solidFill>
                <a:latin typeface="Inter" pitchFamily="34" charset="0"/>
                <a:ea typeface="Inter" pitchFamily="34" charset="-122"/>
                <a:cs typeface="Inter" pitchFamily="34" charset="-120"/>
              </a:rPr>
              <a:t>, </a:t>
            </a:r>
            <a:r>
              <a:rPr lang="en-US" sz="1400" dirty="0">
                <a:solidFill>
                  <a:srgbClr val="272525"/>
                </a:solidFill>
                <a:highlight>
                  <a:srgbClr val="F2F2F2"/>
                </a:highlight>
                <a:latin typeface="Consolas" pitchFamily="34" charset="0"/>
                <a:ea typeface="Consolas" pitchFamily="34" charset="-122"/>
                <a:cs typeface="Consolas" pitchFamily="34" charset="-120"/>
              </a:rPr>
              <a:t>std::mutex</a:t>
            </a:r>
            <a:r>
              <a:rPr lang="en-US" sz="1400" dirty="0">
                <a:solidFill>
                  <a:srgbClr val="272525"/>
                </a:solidFill>
                <a:latin typeface="Inter" pitchFamily="34" charset="0"/>
                <a:ea typeface="Inter" pitchFamily="34" charset="-122"/>
                <a:cs typeface="Inter" pitchFamily="34" charset="-120"/>
              </a:rPr>
              <a:t>), without relying on any external scheduling library. This establishes fine-grained control over all scheduling decisions and thread management.</a:t>
            </a:r>
            <a:endParaRPr lang="en-US" sz="1400" dirty="0"/>
          </a:p>
        </p:txBody>
      </p:sp>
      <p:sp>
        <p:nvSpPr>
          <p:cNvPr id="9" name="Shape 7"/>
          <p:cNvSpPr/>
          <p:nvPr/>
        </p:nvSpPr>
        <p:spPr>
          <a:xfrm>
            <a:off x="7396639" y="2435423"/>
            <a:ext cx="6514386" cy="2411730"/>
          </a:xfrm>
          <a:prstGeom prst="roundRect">
            <a:avLst>
              <a:gd name="adj" fmla="val 3132"/>
            </a:avLst>
          </a:prstGeom>
          <a:solidFill>
            <a:srgbClr val="FFFFFF"/>
          </a:solidFill>
          <a:ln w="22860">
            <a:solidFill>
              <a:srgbClr val="C0C1D7"/>
            </a:solidFill>
            <a:prstDash val="solid"/>
          </a:ln>
        </p:spPr>
      </p:sp>
      <p:sp>
        <p:nvSpPr>
          <p:cNvPr id="10" name="Shape 8"/>
          <p:cNvSpPr/>
          <p:nvPr/>
        </p:nvSpPr>
        <p:spPr>
          <a:xfrm>
            <a:off x="7419499" y="2458283"/>
            <a:ext cx="6468666" cy="539591"/>
          </a:xfrm>
          <a:prstGeom prst="roundRect">
            <a:avLst>
              <a:gd name="adj" fmla="val 8916"/>
            </a:avLst>
          </a:prstGeom>
          <a:solidFill>
            <a:srgbClr val="DADBF1"/>
          </a:solidFill>
          <a:ln/>
        </p:spPr>
      </p:sp>
      <p:sp>
        <p:nvSpPr>
          <p:cNvPr id="11" name="Text 9"/>
          <p:cNvSpPr/>
          <p:nvPr/>
        </p:nvSpPr>
        <p:spPr>
          <a:xfrm>
            <a:off x="10518934" y="2555677"/>
            <a:ext cx="269796" cy="337185"/>
          </a:xfrm>
          <a:prstGeom prst="rect">
            <a:avLst/>
          </a:prstGeom>
          <a:noFill/>
          <a:ln/>
        </p:spPr>
        <p:txBody>
          <a:bodyPr wrap="none" lIns="0" tIns="0" rIns="0" bIns="0" rtlCol="0" anchor="t"/>
          <a:lstStyle/>
          <a:p>
            <a:pPr marL="0" indent="0" algn="l">
              <a:lnSpc>
                <a:spcPts val="2100"/>
              </a:lnSpc>
              <a:buNone/>
            </a:pPr>
            <a:r>
              <a:rPr lang="en-US" sz="2100" b="1" dirty="0">
                <a:solidFill>
                  <a:srgbClr val="272525"/>
                </a:solidFill>
                <a:latin typeface="Inter Bold" pitchFamily="34" charset="0"/>
                <a:ea typeface="Inter Bold" pitchFamily="34" charset="-122"/>
                <a:cs typeface="Inter Bold" pitchFamily="34" charset="-120"/>
              </a:rPr>
              <a:t>2</a:t>
            </a:r>
            <a:endParaRPr lang="en-US" sz="2100" dirty="0"/>
          </a:p>
        </p:txBody>
      </p:sp>
      <p:sp>
        <p:nvSpPr>
          <p:cNvPr id="12" name="Text 10"/>
          <p:cNvSpPr/>
          <p:nvPr/>
        </p:nvSpPr>
        <p:spPr>
          <a:xfrm>
            <a:off x="7599283" y="3160871"/>
            <a:ext cx="4582835" cy="280988"/>
          </a:xfrm>
          <a:prstGeom prst="rect">
            <a:avLst/>
          </a:prstGeom>
          <a:noFill/>
          <a:ln/>
        </p:spPr>
        <p:txBody>
          <a:bodyPr wrap="none" lIns="0" tIns="0" rIns="0" bIns="0" rtlCol="0" anchor="t"/>
          <a:lstStyle/>
          <a:p>
            <a:pPr marL="0" indent="0" algn="l">
              <a:lnSpc>
                <a:spcPts val="2200"/>
              </a:lnSpc>
              <a:buNone/>
            </a:pPr>
            <a:r>
              <a:rPr lang="en-US" sz="1750" b="1" dirty="0">
                <a:solidFill>
                  <a:srgbClr val="272525"/>
                </a:solidFill>
                <a:latin typeface="Inter Bold" pitchFamily="34" charset="0"/>
                <a:ea typeface="Inter Bold" pitchFamily="34" charset="-122"/>
                <a:cs typeface="Inter Bold" pitchFamily="34" charset="-120"/>
              </a:rPr>
              <a:t>Implement Work-Stealing &amp; Work-Sharing</a:t>
            </a:r>
            <a:endParaRPr lang="en-US" sz="1750" dirty="0"/>
          </a:p>
        </p:txBody>
      </p:sp>
      <p:sp>
        <p:nvSpPr>
          <p:cNvPr id="13" name="Text 11"/>
          <p:cNvSpPr/>
          <p:nvPr/>
        </p:nvSpPr>
        <p:spPr>
          <a:xfrm>
            <a:off x="7599283" y="3539609"/>
            <a:ext cx="6109097" cy="1097280"/>
          </a:xfrm>
          <a:prstGeom prst="rect">
            <a:avLst/>
          </a:prstGeom>
          <a:noFill/>
          <a:ln/>
        </p:spPr>
        <p:txBody>
          <a:bodyPr wrap="square" lIns="0" tIns="0" rIns="0" bIns="0" rtlCol="0" anchor="t"/>
          <a:lstStyle/>
          <a:p>
            <a:pPr marL="0" indent="0" algn="l">
              <a:lnSpc>
                <a:spcPts val="2150"/>
              </a:lnSpc>
              <a:buNone/>
            </a:pPr>
            <a:r>
              <a:rPr lang="en-US" sz="1400" dirty="0">
                <a:solidFill>
                  <a:srgbClr val="272525"/>
                </a:solidFill>
                <a:latin typeface="Inter" pitchFamily="34" charset="0"/>
                <a:ea typeface="Inter" pitchFamily="34" charset="-122"/>
                <a:cs typeface="Inter" pitchFamily="34" charset="-120"/>
              </a:rPr>
              <a:t>Develop both reactive work-stealing (idle workers pull tasks from busy workers) and proactive work-sharing (overloaded workers push tasks to underloaded workers) within a unified scheduling framework. Each worker maintains a local double-ended queue (deque) for task locality.</a:t>
            </a:r>
            <a:endParaRPr lang="en-US" sz="1400" dirty="0"/>
          </a:p>
        </p:txBody>
      </p:sp>
      <p:sp>
        <p:nvSpPr>
          <p:cNvPr id="14" name="Shape 12"/>
          <p:cNvSpPr/>
          <p:nvPr/>
        </p:nvSpPr>
        <p:spPr>
          <a:xfrm>
            <a:off x="719376" y="5010150"/>
            <a:ext cx="6514267" cy="2404110"/>
          </a:xfrm>
          <a:prstGeom prst="roundRect">
            <a:avLst>
              <a:gd name="adj" fmla="val 3142"/>
            </a:avLst>
          </a:prstGeom>
          <a:solidFill>
            <a:srgbClr val="FFFFFF"/>
          </a:solidFill>
          <a:ln w="22860">
            <a:solidFill>
              <a:srgbClr val="C0C1D7"/>
            </a:solidFill>
            <a:prstDash val="solid"/>
          </a:ln>
        </p:spPr>
      </p:sp>
      <p:sp>
        <p:nvSpPr>
          <p:cNvPr id="15" name="Shape 13"/>
          <p:cNvSpPr/>
          <p:nvPr/>
        </p:nvSpPr>
        <p:spPr>
          <a:xfrm>
            <a:off x="742236" y="5033010"/>
            <a:ext cx="6468547" cy="539591"/>
          </a:xfrm>
          <a:prstGeom prst="roundRect">
            <a:avLst>
              <a:gd name="adj" fmla="val 8916"/>
            </a:avLst>
          </a:prstGeom>
          <a:solidFill>
            <a:srgbClr val="DADBF1"/>
          </a:solidFill>
          <a:ln/>
        </p:spPr>
      </p:sp>
      <p:sp>
        <p:nvSpPr>
          <p:cNvPr id="16" name="Text 14"/>
          <p:cNvSpPr/>
          <p:nvPr/>
        </p:nvSpPr>
        <p:spPr>
          <a:xfrm>
            <a:off x="3841552" y="5130403"/>
            <a:ext cx="269796" cy="337185"/>
          </a:xfrm>
          <a:prstGeom prst="rect">
            <a:avLst/>
          </a:prstGeom>
          <a:noFill/>
          <a:ln/>
        </p:spPr>
        <p:txBody>
          <a:bodyPr wrap="none" lIns="0" tIns="0" rIns="0" bIns="0" rtlCol="0" anchor="t"/>
          <a:lstStyle/>
          <a:p>
            <a:pPr marL="0" indent="0" algn="l">
              <a:lnSpc>
                <a:spcPts val="2100"/>
              </a:lnSpc>
              <a:buNone/>
            </a:pPr>
            <a:r>
              <a:rPr lang="en-US" sz="2100" b="1" dirty="0">
                <a:solidFill>
                  <a:srgbClr val="272525"/>
                </a:solidFill>
                <a:latin typeface="Inter Bold" pitchFamily="34" charset="0"/>
                <a:ea typeface="Inter Bold" pitchFamily="34" charset="-122"/>
                <a:cs typeface="Inter Bold" pitchFamily="34" charset="-120"/>
              </a:rPr>
              <a:t>3</a:t>
            </a:r>
            <a:endParaRPr lang="en-US" sz="2100" dirty="0"/>
          </a:p>
        </p:txBody>
      </p:sp>
      <p:sp>
        <p:nvSpPr>
          <p:cNvPr id="17" name="Text 15"/>
          <p:cNvSpPr/>
          <p:nvPr/>
        </p:nvSpPr>
        <p:spPr>
          <a:xfrm>
            <a:off x="922020" y="5735598"/>
            <a:ext cx="3827621" cy="280988"/>
          </a:xfrm>
          <a:prstGeom prst="rect">
            <a:avLst/>
          </a:prstGeom>
          <a:noFill/>
          <a:ln/>
        </p:spPr>
        <p:txBody>
          <a:bodyPr wrap="none" lIns="0" tIns="0" rIns="0" bIns="0" rtlCol="0" anchor="t"/>
          <a:lstStyle/>
          <a:p>
            <a:pPr marL="0" indent="0" algn="l">
              <a:lnSpc>
                <a:spcPts val="2200"/>
              </a:lnSpc>
              <a:buNone/>
            </a:pPr>
            <a:r>
              <a:rPr lang="en-US" sz="1750" b="1" dirty="0">
                <a:solidFill>
                  <a:srgbClr val="272525"/>
                </a:solidFill>
                <a:latin typeface="Inter Bold" pitchFamily="34" charset="0"/>
                <a:ea typeface="Inter Bold" pitchFamily="34" charset="-122"/>
                <a:cs typeface="Inter Bold" pitchFamily="34" charset="-120"/>
              </a:rPr>
              <a:t>Evaluate Against OpenMP Baseline</a:t>
            </a:r>
            <a:endParaRPr lang="en-US" sz="1750" dirty="0"/>
          </a:p>
        </p:txBody>
      </p:sp>
      <p:sp>
        <p:nvSpPr>
          <p:cNvPr id="18" name="Text 16"/>
          <p:cNvSpPr/>
          <p:nvPr/>
        </p:nvSpPr>
        <p:spPr>
          <a:xfrm>
            <a:off x="922020" y="6114336"/>
            <a:ext cx="6108978" cy="1097280"/>
          </a:xfrm>
          <a:prstGeom prst="rect">
            <a:avLst/>
          </a:prstGeom>
          <a:noFill/>
          <a:ln/>
        </p:spPr>
        <p:txBody>
          <a:bodyPr wrap="square" lIns="0" tIns="0" rIns="0" bIns="0" rtlCol="0" anchor="t"/>
          <a:lstStyle/>
          <a:p>
            <a:pPr marL="0" indent="0" algn="l">
              <a:lnSpc>
                <a:spcPts val="2150"/>
              </a:lnSpc>
              <a:buNone/>
            </a:pPr>
            <a:r>
              <a:rPr lang="en-US" sz="1400" dirty="0">
                <a:solidFill>
                  <a:srgbClr val="272525"/>
                </a:solidFill>
                <a:latin typeface="Inter" pitchFamily="34" charset="0"/>
                <a:ea typeface="Inter" pitchFamily="34" charset="-122"/>
                <a:cs typeface="Inter" pitchFamily="34" charset="-120"/>
              </a:rPr>
              <a:t>Rigorously benchmark custom scheduler performance across multiple workloads and thread counts against OpenMP — an industry-standard parallel computing framework — using execution time, speedup, and efficiency metrics recorded to CSV for Python-based visualization.</a:t>
            </a:r>
            <a:endParaRPr lang="en-US" sz="1400" dirty="0"/>
          </a:p>
        </p:txBody>
      </p:sp>
      <p:sp>
        <p:nvSpPr>
          <p:cNvPr id="19" name="Shape 17"/>
          <p:cNvSpPr/>
          <p:nvPr/>
        </p:nvSpPr>
        <p:spPr>
          <a:xfrm>
            <a:off x="7396639" y="5010150"/>
            <a:ext cx="6514386" cy="2404110"/>
          </a:xfrm>
          <a:prstGeom prst="roundRect">
            <a:avLst>
              <a:gd name="adj" fmla="val 3142"/>
            </a:avLst>
          </a:prstGeom>
          <a:solidFill>
            <a:srgbClr val="FFFFFF"/>
          </a:solidFill>
          <a:ln w="22860">
            <a:solidFill>
              <a:srgbClr val="C0C1D7"/>
            </a:solidFill>
            <a:prstDash val="solid"/>
          </a:ln>
        </p:spPr>
      </p:sp>
      <p:sp>
        <p:nvSpPr>
          <p:cNvPr id="20" name="Shape 18"/>
          <p:cNvSpPr/>
          <p:nvPr/>
        </p:nvSpPr>
        <p:spPr>
          <a:xfrm>
            <a:off x="7419499" y="5033010"/>
            <a:ext cx="6468666" cy="539591"/>
          </a:xfrm>
          <a:prstGeom prst="roundRect">
            <a:avLst>
              <a:gd name="adj" fmla="val 8916"/>
            </a:avLst>
          </a:prstGeom>
          <a:solidFill>
            <a:srgbClr val="DADBF1"/>
          </a:solidFill>
          <a:ln/>
        </p:spPr>
      </p:sp>
      <p:sp>
        <p:nvSpPr>
          <p:cNvPr id="21" name="Text 19"/>
          <p:cNvSpPr/>
          <p:nvPr/>
        </p:nvSpPr>
        <p:spPr>
          <a:xfrm>
            <a:off x="10518934" y="5130403"/>
            <a:ext cx="269796" cy="337185"/>
          </a:xfrm>
          <a:prstGeom prst="rect">
            <a:avLst/>
          </a:prstGeom>
          <a:noFill/>
          <a:ln/>
        </p:spPr>
        <p:txBody>
          <a:bodyPr wrap="none" lIns="0" tIns="0" rIns="0" bIns="0" rtlCol="0" anchor="t"/>
          <a:lstStyle/>
          <a:p>
            <a:pPr marL="0" indent="0" algn="l">
              <a:lnSpc>
                <a:spcPts val="2100"/>
              </a:lnSpc>
              <a:buNone/>
            </a:pPr>
            <a:r>
              <a:rPr lang="en-US" sz="2100" b="1" dirty="0">
                <a:solidFill>
                  <a:srgbClr val="272525"/>
                </a:solidFill>
                <a:latin typeface="Inter Bold" pitchFamily="34" charset="0"/>
                <a:ea typeface="Inter Bold" pitchFamily="34" charset="-122"/>
                <a:cs typeface="Inter Bold" pitchFamily="34" charset="-120"/>
              </a:rPr>
              <a:t>4</a:t>
            </a:r>
            <a:endParaRPr lang="en-US" sz="2100" dirty="0"/>
          </a:p>
        </p:txBody>
      </p:sp>
      <p:sp>
        <p:nvSpPr>
          <p:cNvPr id="22" name="Text 20"/>
          <p:cNvSpPr/>
          <p:nvPr/>
        </p:nvSpPr>
        <p:spPr>
          <a:xfrm>
            <a:off x="7599283" y="5735598"/>
            <a:ext cx="5396508" cy="280988"/>
          </a:xfrm>
          <a:prstGeom prst="rect">
            <a:avLst/>
          </a:prstGeom>
          <a:noFill/>
          <a:ln/>
        </p:spPr>
        <p:txBody>
          <a:bodyPr wrap="none" lIns="0" tIns="0" rIns="0" bIns="0" rtlCol="0" anchor="t"/>
          <a:lstStyle/>
          <a:p>
            <a:pPr marL="0" indent="0" algn="l">
              <a:lnSpc>
                <a:spcPts val="2200"/>
              </a:lnSpc>
              <a:buNone/>
            </a:pPr>
            <a:r>
              <a:rPr lang="en-US" sz="1750" b="1" dirty="0">
                <a:solidFill>
                  <a:srgbClr val="272525"/>
                </a:solidFill>
                <a:latin typeface="Inter Bold" pitchFamily="34" charset="0"/>
                <a:ea typeface="Inter Bold" pitchFamily="34" charset="-122"/>
                <a:cs typeface="Inter Bold" pitchFamily="34" charset="-120"/>
              </a:rPr>
              <a:t>Improve Efficiency via Cost &amp; Locality Awareness</a:t>
            </a:r>
            <a:endParaRPr lang="en-US" sz="1750" dirty="0"/>
          </a:p>
        </p:txBody>
      </p:sp>
      <p:sp>
        <p:nvSpPr>
          <p:cNvPr id="23" name="Text 21"/>
          <p:cNvSpPr/>
          <p:nvPr/>
        </p:nvSpPr>
        <p:spPr>
          <a:xfrm>
            <a:off x="7599283" y="6114336"/>
            <a:ext cx="6109097" cy="1097280"/>
          </a:xfrm>
          <a:prstGeom prst="rect">
            <a:avLst/>
          </a:prstGeom>
          <a:noFill/>
          <a:ln/>
        </p:spPr>
        <p:txBody>
          <a:bodyPr wrap="square" lIns="0" tIns="0" rIns="0" bIns="0" rtlCol="0" anchor="t"/>
          <a:lstStyle/>
          <a:p>
            <a:pPr marL="0" indent="0" algn="l">
              <a:lnSpc>
                <a:spcPts val="2150"/>
              </a:lnSpc>
              <a:buNone/>
            </a:pPr>
            <a:r>
              <a:rPr lang="en-US" sz="1400" dirty="0">
                <a:solidFill>
                  <a:srgbClr val="272525"/>
                </a:solidFill>
                <a:latin typeface="Inter" pitchFamily="34" charset="0"/>
                <a:ea typeface="Inter" pitchFamily="34" charset="-122"/>
                <a:cs typeface="Inter" pitchFamily="34" charset="-120"/>
              </a:rPr>
              <a:t>Integrate cost-aware gating (steal/share only if task's estimated computational cost exceeds a predefined threshold) and locality-aware victim selection (prioritize same-NUMA-group workers) to suppress unnecessary migration overhead and minimize cross-node latency.</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69025" y="577453"/>
            <a:ext cx="6514028" cy="600789"/>
          </a:xfrm>
          <a:prstGeom prst="rect">
            <a:avLst/>
          </a:prstGeom>
          <a:noFill/>
          <a:ln/>
        </p:spPr>
        <p:txBody>
          <a:bodyPr wrap="none" lIns="0" tIns="0" rIns="0" bIns="0" rtlCol="0" anchor="t"/>
          <a:lstStyle/>
          <a:p>
            <a:pPr marL="0" indent="0" algn="l">
              <a:lnSpc>
                <a:spcPts val="4700"/>
              </a:lnSpc>
              <a:buNone/>
            </a:pPr>
            <a:r>
              <a:rPr lang="en-US" sz="3750" b="1" dirty="0">
                <a:solidFill>
                  <a:srgbClr val="000000"/>
                </a:solidFill>
                <a:latin typeface="Inter Bold" pitchFamily="34" charset="0"/>
                <a:ea typeface="Inter Bold" pitchFamily="34" charset="-122"/>
                <a:cs typeface="Inter Bold" pitchFamily="34" charset="-120"/>
              </a:rPr>
              <a:t>Background &amp; Related Work</a:t>
            </a:r>
            <a:endParaRPr lang="en-US" sz="3750" dirty="0"/>
          </a:p>
        </p:txBody>
      </p:sp>
      <p:sp>
        <p:nvSpPr>
          <p:cNvPr id="3" name="Text 1"/>
          <p:cNvSpPr/>
          <p:nvPr/>
        </p:nvSpPr>
        <p:spPr>
          <a:xfrm>
            <a:off x="769025" y="1643777"/>
            <a:ext cx="2403396" cy="300395"/>
          </a:xfrm>
          <a:prstGeom prst="rect">
            <a:avLst/>
          </a:prstGeom>
          <a:noFill/>
          <a:ln/>
        </p:spPr>
        <p:txBody>
          <a:bodyPr wrap="none" lIns="0" tIns="0" rIns="0" bIns="0" rtlCol="0" anchor="t"/>
          <a:lstStyle/>
          <a:p>
            <a:pPr marL="0" indent="0" algn="l">
              <a:lnSpc>
                <a:spcPts val="2350"/>
              </a:lnSpc>
              <a:buNone/>
            </a:pPr>
            <a:r>
              <a:rPr lang="en-US" sz="1850" b="1" dirty="0">
                <a:solidFill>
                  <a:srgbClr val="000000"/>
                </a:solidFill>
                <a:latin typeface="Inter Bold" pitchFamily="34" charset="0"/>
                <a:ea typeface="Inter Bold" pitchFamily="34" charset="-122"/>
                <a:cs typeface="Inter Bold" pitchFamily="34" charset="-120"/>
              </a:rPr>
              <a:t>Foundational Work</a:t>
            </a:r>
            <a:endParaRPr lang="en-US" sz="1850" dirty="0"/>
          </a:p>
        </p:txBody>
      </p:sp>
      <p:sp>
        <p:nvSpPr>
          <p:cNvPr id="4" name="Text 2"/>
          <p:cNvSpPr/>
          <p:nvPr/>
        </p:nvSpPr>
        <p:spPr>
          <a:xfrm>
            <a:off x="769025" y="2130385"/>
            <a:ext cx="6311622" cy="2119432"/>
          </a:xfrm>
          <a:prstGeom prst="rect">
            <a:avLst/>
          </a:prstGeom>
          <a:noFill/>
          <a:ln/>
        </p:spPr>
        <p:txBody>
          <a:bodyPr wrap="square" lIns="0" tIns="0" rIns="0" bIns="0" rtlCol="0" anchor="t"/>
          <a:lstStyle/>
          <a:p>
            <a:pPr marL="0" indent="0" algn="l">
              <a:lnSpc>
                <a:spcPts val="2350"/>
              </a:lnSpc>
              <a:buNone/>
            </a:pPr>
            <a:r>
              <a:rPr lang="en-US" sz="1500" b="1" dirty="0">
                <a:solidFill>
                  <a:srgbClr val="272525"/>
                </a:solidFill>
                <a:latin typeface="Inter" pitchFamily="34" charset="0"/>
                <a:ea typeface="Inter" pitchFamily="34" charset="-122"/>
                <a:cs typeface="Inter" pitchFamily="34" charset="-120"/>
              </a:rPr>
              <a:t>Blumofe &amp; Leiserson (1999)</a:t>
            </a:r>
            <a:r>
              <a:rPr lang="en-US" sz="1500" dirty="0">
                <a:solidFill>
                  <a:srgbClr val="272525"/>
                </a:solidFill>
                <a:latin typeface="Inter" pitchFamily="34" charset="0"/>
                <a:ea typeface="Inter" pitchFamily="34" charset="-122"/>
                <a:cs typeface="Inter" pitchFamily="34" charset="-120"/>
              </a:rPr>
              <a:t> formalized the work-stealing algorithm for multithreaded computations. Their model guarantees near-optimal execution time: if a computation has </a:t>
            </a:r>
            <a:r>
              <a:rPr lang="en-US" sz="1500" i="1" dirty="0">
                <a:solidFill>
                  <a:srgbClr val="272525"/>
                </a:solidFill>
                <a:latin typeface="Inter" pitchFamily="34" charset="0"/>
                <a:ea typeface="Inter" pitchFamily="34" charset="-122"/>
                <a:cs typeface="Inter" pitchFamily="34" charset="-120"/>
              </a:rPr>
              <a:t>T₁</a:t>
            </a:r>
            <a:r>
              <a:rPr lang="en-US" sz="1500" dirty="0">
                <a:solidFill>
                  <a:srgbClr val="272525"/>
                </a:solidFill>
                <a:latin typeface="Inter" pitchFamily="34" charset="0"/>
                <a:ea typeface="Inter" pitchFamily="34" charset="-122"/>
                <a:cs typeface="Inter" pitchFamily="34" charset="-120"/>
              </a:rPr>
              <a:t> total work and </a:t>
            </a:r>
            <a:r>
              <a:rPr lang="en-US" sz="1500" i="1" dirty="0">
                <a:solidFill>
                  <a:srgbClr val="272525"/>
                </a:solidFill>
                <a:latin typeface="Inter" pitchFamily="34" charset="0"/>
                <a:ea typeface="Inter" pitchFamily="34" charset="-122"/>
                <a:cs typeface="Inter" pitchFamily="34" charset="-120"/>
              </a:rPr>
              <a:t>T∞</a:t>
            </a:r>
            <a:r>
              <a:rPr lang="en-US" sz="1500" dirty="0">
                <a:solidFill>
                  <a:srgbClr val="272525"/>
                </a:solidFill>
                <a:latin typeface="Inter" pitchFamily="34" charset="0"/>
                <a:ea typeface="Inter" pitchFamily="34" charset="-122"/>
                <a:cs typeface="Inter" pitchFamily="34" charset="-120"/>
              </a:rPr>
              <a:t> critical-path length, the expected time on </a:t>
            </a:r>
            <a:r>
              <a:rPr lang="en-US" sz="1500" i="1" dirty="0">
                <a:solidFill>
                  <a:srgbClr val="272525"/>
                </a:solidFill>
                <a:latin typeface="Inter" pitchFamily="34" charset="0"/>
                <a:ea typeface="Inter" pitchFamily="34" charset="-122"/>
                <a:cs typeface="Inter" pitchFamily="34" charset="-120"/>
              </a:rPr>
              <a:t>P</a:t>
            </a:r>
            <a:r>
              <a:rPr lang="en-US" sz="1500" dirty="0">
                <a:solidFill>
                  <a:srgbClr val="272525"/>
                </a:solidFill>
                <a:latin typeface="Inter" pitchFamily="34" charset="0"/>
                <a:ea typeface="Inter" pitchFamily="34" charset="-122"/>
                <a:cs typeface="Inter" pitchFamily="34" charset="-120"/>
              </a:rPr>
              <a:t> processors is </a:t>
            </a:r>
            <a:r>
              <a:rPr lang="en-US" sz="1500" i="1" dirty="0">
                <a:solidFill>
                  <a:srgbClr val="272525"/>
                </a:solidFill>
                <a:latin typeface="Inter" pitchFamily="34" charset="0"/>
                <a:ea typeface="Inter" pitchFamily="34" charset="-122"/>
                <a:cs typeface="Inter" pitchFamily="34" charset="-120"/>
              </a:rPr>
              <a:t>O(T₁/P + T∞)</a:t>
            </a:r>
            <a:r>
              <a:rPr lang="en-US" sz="1500" dirty="0">
                <a:solidFill>
                  <a:srgbClr val="272525"/>
                </a:solidFill>
                <a:latin typeface="Inter" pitchFamily="34" charset="0"/>
                <a:ea typeface="Inter" pitchFamily="34" charset="-122"/>
                <a:cs typeface="Inter" pitchFamily="34" charset="-120"/>
              </a:rPr>
              <a:t>. Workers maintain local deques; idle workers steal from the front of a randomly chosen victim's deque, while the owner pops from the back — minimizing contention.</a:t>
            </a:r>
            <a:endParaRPr lang="en-US" sz="1500" dirty="0"/>
          </a:p>
        </p:txBody>
      </p:sp>
      <p:sp>
        <p:nvSpPr>
          <p:cNvPr id="5" name="Text 3"/>
          <p:cNvSpPr/>
          <p:nvPr/>
        </p:nvSpPr>
        <p:spPr>
          <a:xfrm>
            <a:off x="769025" y="4417338"/>
            <a:ext cx="6311622" cy="908328"/>
          </a:xfrm>
          <a:prstGeom prst="rect">
            <a:avLst/>
          </a:prstGeom>
          <a:noFill/>
          <a:ln/>
        </p:spPr>
        <p:txBody>
          <a:bodyPr wrap="square" lIns="0" tIns="0" rIns="0" bIns="0" rtlCol="0" anchor="t"/>
          <a:lstStyle/>
          <a:p>
            <a:pPr marL="0" indent="0" algn="l">
              <a:lnSpc>
                <a:spcPts val="2350"/>
              </a:lnSpc>
              <a:buNone/>
            </a:pPr>
            <a:r>
              <a:rPr lang="en-US" sz="1500" b="1" dirty="0">
                <a:solidFill>
                  <a:srgbClr val="272525"/>
                </a:solidFill>
                <a:latin typeface="Inter" pitchFamily="34" charset="0"/>
                <a:ea typeface="Inter" pitchFamily="34" charset="-122"/>
                <a:cs typeface="Inter" pitchFamily="34" charset="-120"/>
              </a:rPr>
              <a:t>Quinn (2004)</a:t>
            </a:r>
            <a:r>
              <a:rPr lang="en-US" sz="1500" dirty="0">
                <a:solidFill>
                  <a:srgbClr val="272525"/>
                </a:solidFill>
                <a:latin typeface="Inter" pitchFamily="34" charset="0"/>
                <a:ea typeface="Inter" pitchFamily="34" charset="-122"/>
                <a:cs typeface="Inter" pitchFamily="34" charset="-120"/>
              </a:rPr>
              <a:t> provides the foundational treatment of parallel programming with MPI and OpenMP, establishing static scheduling as the baseline from which dynamic strategies improve.</a:t>
            </a:r>
            <a:endParaRPr lang="en-US" sz="1500" dirty="0"/>
          </a:p>
        </p:txBody>
      </p:sp>
      <p:sp>
        <p:nvSpPr>
          <p:cNvPr id="6" name="Text 4"/>
          <p:cNvSpPr/>
          <p:nvPr/>
        </p:nvSpPr>
        <p:spPr>
          <a:xfrm>
            <a:off x="769025" y="5493187"/>
            <a:ext cx="6311622" cy="908328"/>
          </a:xfrm>
          <a:prstGeom prst="rect">
            <a:avLst/>
          </a:prstGeom>
          <a:noFill/>
          <a:ln/>
        </p:spPr>
        <p:txBody>
          <a:bodyPr wrap="square" lIns="0" tIns="0" rIns="0" bIns="0" rtlCol="0" anchor="t"/>
          <a:lstStyle/>
          <a:p>
            <a:pPr marL="0" indent="0" algn="l">
              <a:lnSpc>
                <a:spcPts val="2350"/>
              </a:lnSpc>
              <a:buNone/>
            </a:pPr>
            <a:r>
              <a:rPr lang="en-US" sz="1500" b="1" dirty="0">
                <a:solidFill>
                  <a:srgbClr val="272525"/>
                </a:solidFill>
                <a:latin typeface="Inter" pitchFamily="34" charset="0"/>
                <a:ea typeface="Inter" pitchFamily="34" charset="-122"/>
                <a:cs typeface="Inter" pitchFamily="34" charset="-120"/>
              </a:rPr>
              <a:t>Agrawal et al. (2010)</a:t>
            </a:r>
            <a:r>
              <a:rPr lang="en-US" sz="1500" dirty="0">
                <a:solidFill>
                  <a:srgbClr val="272525"/>
                </a:solidFill>
                <a:latin typeface="Inter" pitchFamily="34" charset="0"/>
                <a:ea typeface="Inter" pitchFamily="34" charset="-122"/>
                <a:cs typeface="Inter" pitchFamily="34" charset="-120"/>
              </a:rPr>
              <a:t> extended work-stealing to distributed environments, identifying adaptive policies as a necessary evolution to handle heterogeneous task sizes.</a:t>
            </a:r>
            <a:endParaRPr lang="en-US" sz="1500" dirty="0"/>
          </a:p>
        </p:txBody>
      </p:sp>
      <p:sp>
        <p:nvSpPr>
          <p:cNvPr id="7" name="Text 5"/>
          <p:cNvSpPr/>
          <p:nvPr/>
        </p:nvSpPr>
        <p:spPr>
          <a:xfrm>
            <a:off x="7557373" y="1643777"/>
            <a:ext cx="2942153" cy="300395"/>
          </a:xfrm>
          <a:prstGeom prst="rect">
            <a:avLst/>
          </a:prstGeom>
          <a:noFill/>
          <a:ln/>
        </p:spPr>
        <p:txBody>
          <a:bodyPr wrap="none" lIns="0" tIns="0" rIns="0" bIns="0" rtlCol="0" anchor="t"/>
          <a:lstStyle/>
          <a:p>
            <a:pPr marL="0" indent="0" algn="l">
              <a:lnSpc>
                <a:spcPts val="2350"/>
              </a:lnSpc>
              <a:buNone/>
            </a:pPr>
            <a:r>
              <a:rPr lang="en-US" sz="1850" b="1" dirty="0">
                <a:solidFill>
                  <a:srgbClr val="000000"/>
                </a:solidFill>
                <a:latin typeface="Inter Bold" pitchFamily="34" charset="0"/>
                <a:ea typeface="Inter Bold" pitchFamily="34" charset="-122"/>
                <a:cs typeface="Inter Bold" pitchFamily="34" charset="-120"/>
              </a:rPr>
              <a:t>Identified Research Gaps</a:t>
            </a:r>
            <a:endParaRPr lang="en-US" sz="1850" dirty="0"/>
          </a:p>
        </p:txBody>
      </p:sp>
      <p:sp>
        <p:nvSpPr>
          <p:cNvPr id="8" name="Shape 6"/>
          <p:cNvSpPr/>
          <p:nvPr/>
        </p:nvSpPr>
        <p:spPr>
          <a:xfrm>
            <a:off x="7557373" y="2153603"/>
            <a:ext cx="3062645" cy="3308390"/>
          </a:xfrm>
          <a:prstGeom prst="roundRect">
            <a:avLst>
              <a:gd name="adj" fmla="val 2637"/>
            </a:avLst>
          </a:prstGeom>
          <a:solidFill>
            <a:srgbClr val="DADBF1"/>
          </a:solidFill>
          <a:ln w="7620">
            <a:solidFill>
              <a:srgbClr val="C0C1D7"/>
            </a:solidFill>
            <a:prstDash val="solid"/>
          </a:ln>
        </p:spPr>
      </p:sp>
      <p:sp>
        <p:nvSpPr>
          <p:cNvPr id="9" name="Text 7"/>
          <p:cNvSpPr/>
          <p:nvPr/>
        </p:nvSpPr>
        <p:spPr>
          <a:xfrm>
            <a:off x="7757160" y="2353389"/>
            <a:ext cx="2663071" cy="600789"/>
          </a:xfrm>
          <a:prstGeom prst="rect">
            <a:avLst/>
          </a:prstGeom>
          <a:noFill/>
          <a:ln/>
        </p:spPr>
        <p:txBody>
          <a:bodyPr wrap="square" lIns="0" tIns="0" rIns="0" bIns="0" rtlCol="0" anchor="t"/>
          <a:lstStyle/>
          <a:p>
            <a:pPr marL="0" indent="0" algn="l">
              <a:lnSpc>
                <a:spcPts val="2350"/>
              </a:lnSpc>
              <a:buNone/>
            </a:pPr>
            <a:r>
              <a:rPr lang="en-US" sz="1850" b="1" dirty="0">
                <a:solidFill>
                  <a:srgbClr val="272525"/>
                </a:solidFill>
                <a:latin typeface="Inter Bold" pitchFamily="34" charset="0"/>
                <a:ea typeface="Inter Bold" pitchFamily="34" charset="-122"/>
                <a:cs typeface="Inter Bold" pitchFamily="34" charset="-120"/>
              </a:rPr>
              <a:t>Small-Task Migration Overhead</a:t>
            </a:r>
            <a:endParaRPr lang="en-US" sz="1850" dirty="0"/>
          </a:p>
        </p:txBody>
      </p:sp>
      <p:sp>
        <p:nvSpPr>
          <p:cNvPr id="10" name="Text 8"/>
          <p:cNvSpPr/>
          <p:nvPr/>
        </p:nvSpPr>
        <p:spPr>
          <a:xfrm>
            <a:off x="7757160" y="3140393"/>
            <a:ext cx="2663071" cy="2119432"/>
          </a:xfrm>
          <a:prstGeom prst="rect">
            <a:avLst/>
          </a:prstGeom>
          <a:noFill/>
          <a:ln/>
        </p:spPr>
        <p:txBody>
          <a:bodyPr wrap="square" lIns="0" tIns="0" rIns="0" bIns="0" rtlCol="0" anchor="t"/>
          <a:lstStyle/>
          <a:p>
            <a:pPr marL="0" indent="0" algn="l">
              <a:lnSpc>
                <a:spcPts val="2350"/>
              </a:lnSpc>
              <a:buNone/>
            </a:pPr>
            <a:r>
              <a:rPr lang="en-US" sz="1500" dirty="0">
                <a:solidFill>
                  <a:srgbClr val="272525"/>
                </a:solidFill>
                <a:latin typeface="Inter" pitchFamily="34" charset="0"/>
                <a:ea typeface="Inter" pitchFamily="34" charset="-122"/>
                <a:cs typeface="Inter" pitchFamily="34" charset="-120"/>
              </a:rPr>
              <a:t>Classical work-stealing performs stealing regardless of task cost, causing excessive synchronization overhead for tiny recursive tasks (e.g., Fibonacci sub-problems with n &lt; 10).</a:t>
            </a:r>
            <a:endParaRPr lang="en-US" sz="1500" dirty="0"/>
          </a:p>
        </p:txBody>
      </p:sp>
      <p:sp>
        <p:nvSpPr>
          <p:cNvPr id="11" name="Shape 9"/>
          <p:cNvSpPr/>
          <p:nvPr/>
        </p:nvSpPr>
        <p:spPr>
          <a:xfrm>
            <a:off x="10806232" y="2153603"/>
            <a:ext cx="3062764" cy="3308390"/>
          </a:xfrm>
          <a:prstGeom prst="roundRect">
            <a:avLst>
              <a:gd name="adj" fmla="val 2637"/>
            </a:avLst>
          </a:prstGeom>
          <a:solidFill>
            <a:srgbClr val="DADBF1"/>
          </a:solidFill>
          <a:ln w="7620">
            <a:solidFill>
              <a:srgbClr val="C0C1D7"/>
            </a:solidFill>
            <a:prstDash val="solid"/>
          </a:ln>
        </p:spPr>
      </p:sp>
      <p:sp>
        <p:nvSpPr>
          <p:cNvPr id="12" name="Text 10"/>
          <p:cNvSpPr/>
          <p:nvPr/>
        </p:nvSpPr>
        <p:spPr>
          <a:xfrm>
            <a:off x="11006018" y="2353389"/>
            <a:ext cx="2470309" cy="300395"/>
          </a:xfrm>
          <a:prstGeom prst="rect">
            <a:avLst/>
          </a:prstGeom>
          <a:noFill/>
          <a:ln/>
        </p:spPr>
        <p:txBody>
          <a:bodyPr wrap="none" lIns="0" tIns="0" rIns="0" bIns="0" rtlCol="0" anchor="t"/>
          <a:lstStyle/>
          <a:p>
            <a:pPr marL="0" indent="0" algn="l">
              <a:lnSpc>
                <a:spcPts val="2350"/>
              </a:lnSpc>
              <a:buNone/>
            </a:pPr>
            <a:r>
              <a:rPr lang="en-US" sz="1850" b="1" dirty="0">
                <a:solidFill>
                  <a:srgbClr val="272525"/>
                </a:solidFill>
                <a:latin typeface="Inter Bold" pitchFamily="34" charset="0"/>
                <a:ea typeface="Inter Bold" pitchFamily="34" charset="-122"/>
                <a:cs typeface="Inter Bold" pitchFamily="34" charset="-120"/>
              </a:rPr>
              <a:t>No Proactive Sharing</a:t>
            </a:r>
            <a:endParaRPr lang="en-US" sz="1850" dirty="0"/>
          </a:p>
        </p:txBody>
      </p:sp>
      <p:sp>
        <p:nvSpPr>
          <p:cNvPr id="13" name="Text 11"/>
          <p:cNvSpPr/>
          <p:nvPr/>
        </p:nvSpPr>
        <p:spPr>
          <a:xfrm>
            <a:off x="11006018" y="2839998"/>
            <a:ext cx="2663190" cy="2422208"/>
          </a:xfrm>
          <a:prstGeom prst="rect">
            <a:avLst/>
          </a:prstGeom>
          <a:noFill/>
          <a:ln/>
        </p:spPr>
        <p:txBody>
          <a:bodyPr wrap="square" lIns="0" tIns="0" rIns="0" bIns="0" rtlCol="0" anchor="t"/>
          <a:lstStyle/>
          <a:p>
            <a:pPr marL="0" indent="0" algn="l">
              <a:lnSpc>
                <a:spcPts val="2350"/>
              </a:lnSpc>
              <a:buNone/>
            </a:pPr>
            <a:r>
              <a:rPr lang="en-US" sz="1500" dirty="0">
                <a:solidFill>
                  <a:srgbClr val="272525"/>
                </a:solidFill>
                <a:latin typeface="Inter" pitchFamily="34" charset="0"/>
                <a:ea typeface="Inter" pitchFamily="34" charset="-122"/>
                <a:cs typeface="Inter" pitchFamily="34" charset="-120"/>
              </a:rPr>
              <a:t>Blumofe's model is purely reactive — workers only acquire tasks when idle. There is no proactive mechanism for overloaded workers to push tasks, leaving heavy-imbalance scenarios underserved.</a:t>
            </a:r>
            <a:endParaRPr lang="en-US" sz="1500" dirty="0"/>
          </a:p>
        </p:txBody>
      </p:sp>
      <p:sp>
        <p:nvSpPr>
          <p:cNvPr id="14" name="Shape 12"/>
          <p:cNvSpPr/>
          <p:nvPr/>
        </p:nvSpPr>
        <p:spPr>
          <a:xfrm>
            <a:off x="7557373" y="5648206"/>
            <a:ext cx="6311622" cy="1794510"/>
          </a:xfrm>
          <a:prstGeom prst="roundRect">
            <a:avLst>
              <a:gd name="adj" fmla="val 4500"/>
            </a:avLst>
          </a:prstGeom>
          <a:solidFill>
            <a:srgbClr val="DADBF1"/>
          </a:solidFill>
          <a:ln w="7620">
            <a:solidFill>
              <a:srgbClr val="C0C1D7"/>
            </a:solidFill>
            <a:prstDash val="solid"/>
          </a:ln>
        </p:spPr>
      </p:sp>
      <p:sp>
        <p:nvSpPr>
          <p:cNvPr id="15" name="Text 13"/>
          <p:cNvSpPr/>
          <p:nvPr/>
        </p:nvSpPr>
        <p:spPr>
          <a:xfrm>
            <a:off x="7757160" y="5847993"/>
            <a:ext cx="2966680" cy="300395"/>
          </a:xfrm>
          <a:prstGeom prst="rect">
            <a:avLst/>
          </a:prstGeom>
          <a:noFill/>
          <a:ln/>
        </p:spPr>
        <p:txBody>
          <a:bodyPr wrap="none" lIns="0" tIns="0" rIns="0" bIns="0" rtlCol="0" anchor="t"/>
          <a:lstStyle/>
          <a:p>
            <a:pPr marL="0" indent="0" algn="l">
              <a:lnSpc>
                <a:spcPts val="2350"/>
              </a:lnSpc>
              <a:buNone/>
            </a:pPr>
            <a:r>
              <a:rPr lang="en-US" sz="1850" b="1" dirty="0">
                <a:solidFill>
                  <a:srgbClr val="272525"/>
                </a:solidFill>
                <a:latin typeface="Inter Bold" pitchFamily="34" charset="0"/>
                <a:ea typeface="Inter Bold" pitchFamily="34" charset="-122"/>
                <a:cs typeface="Inter Bold" pitchFamily="34" charset="-120"/>
              </a:rPr>
              <a:t>Lack of Hybrid Strategies</a:t>
            </a:r>
            <a:endParaRPr lang="en-US" sz="1850" dirty="0"/>
          </a:p>
        </p:txBody>
      </p:sp>
      <p:sp>
        <p:nvSpPr>
          <p:cNvPr id="16" name="Text 14"/>
          <p:cNvSpPr/>
          <p:nvPr/>
        </p:nvSpPr>
        <p:spPr>
          <a:xfrm>
            <a:off x="7757160" y="6334601"/>
            <a:ext cx="5912048" cy="908328"/>
          </a:xfrm>
          <a:prstGeom prst="rect">
            <a:avLst/>
          </a:prstGeom>
          <a:noFill/>
          <a:ln/>
        </p:spPr>
        <p:txBody>
          <a:bodyPr wrap="square" lIns="0" tIns="0" rIns="0" bIns="0" rtlCol="0" anchor="t"/>
          <a:lstStyle/>
          <a:p>
            <a:pPr marL="0" indent="0" algn="l">
              <a:lnSpc>
                <a:spcPts val="2350"/>
              </a:lnSpc>
              <a:buNone/>
            </a:pPr>
            <a:r>
              <a:rPr lang="en-US" sz="1500" dirty="0">
                <a:solidFill>
                  <a:srgbClr val="272525"/>
                </a:solidFill>
                <a:latin typeface="Inter" pitchFamily="34" charset="0"/>
                <a:ea typeface="Inter" pitchFamily="34" charset="-122"/>
                <a:cs typeface="Inter" pitchFamily="34" charset="-120"/>
              </a:rPr>
              <a:t>Existing approaches treat work-stealing and work-sharing as independent paradigms. No adaptive mechanism dynamically selects between them based on runtime system state metrics.</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1812846" y="471368"/>
            <a:ext cx="8486656" cy="436007"/>
          </a:xfrm>
          <a:prstGeom prst="rect">
            <a:avLst/>
          </a:prstGeom>
          <a:noFill/>
          <a:ln/>
        </p:spPr>
        <p:txBody>
          <a:bodyPr wrap="none" lIns="0" tIns="0" rIns="0" bIns="0" rtlCol="0" anchor="t"/>
          <a:lstStyle/>
          <a:p>
            <a:pPr marL="0" indent="0" algn="l">
              <a:lnSpc>
                <a:spcPts val="3400"/>
              </a:lnSpc>
              <a:buNone/>
            </a:pPr>
            <a:r>
              <a:rPr lang="en-US" sz="2700" b="1" dirty="0">
                <a:solidFill>
                  <a:srgbClr val="000000"/>
                </a:solidFill>
                <a:latin typeface="Inter Bold" pitchFamily="34" charset="0"/>
                <a:ea typeface="Inter Bold" pitchFamily="34" charset="-122"/>
                <a:cs typeface="Inter Bold" pitchFamily="34" charset="-120"/>
              </a:rPr>
              <a:t>Proposed Approach — Adaptive Hybrid Scheduler</a:t>
            </a:r>
            <a:endParaRPr lang="en-US" sz="2700" dirty="0"/>
          </a:p>
        </p:txBody>
      </p:sp>
      <p:sp>
        <p:nvSpPr>
          <p:cNvPr id="3" name="Text 1"/>
          <p:cNvSpPr/>
          <p:nvPr/>
        </p:nvSpPr>
        <p:spPr>
          <a:xfrm>
            <a:off x="1812846" y="1103590"/>
            <a:ext cx="11004590" cy="380047"/>
          </a:xfrm>
          <a:prstGeom prst="rect">
            <a:avLst/>
          </a:prstGeom>
          <a:noFill/>
          <a:ln/>
        </p:spPr>
        <p:txBody>
          <a:bodyPr wrap="square" lIns="0" tIns="0" rIns="0" bIns="0" rtlCol="0" anchor="t"/>
          <a:lstStyle/>
          <a:p>
            <a:pPr marL="0" indent="0" algn="l">
              <a:lnSpc>
                <a:spcPts val="1450"/>
              </a:lnSpc>
              <a:buNone/>
            </a:pPr>
            <a:r>
              <a:rPr lang="en-US" sz="1050" dirty="0">
                <a:solidFill>
                  <a:srgbClr val="272525"/>
                </a:solidFill>
                <a:latin typeface="Inter" pitchFamily="34" charset="0"/>
                <a:ea typeface="Inter" pitchFamily="34" charset="-122"/>
                <a:cs typeface="Inter" pitchFamily="34" charset="-120"/>
              </a:rPr>
              <a:t>The proposed scheduler integrates cost-aware gating and locality-aware victim selection within a dual-policy adaptive framework, operating across five modes for comprehensive evaluation.</a:t>
            </a:r>
            <a:endParaRPr lang="en-US" sz="1050" dirty="0"/>
          </a:p>
        </p:txBody>
      </p:sp>
      <p:sp>
        <p:nvSpPr>
          <p:cNvPr id="4" name="Shape 2"/>
          <p:cNvSpPr/>
          <p:nvPr/>
        </p:nvSpPr>
        <p:spPr>
          <a:xfrm>
            <a:off x="1712476" y="1594009"/>
            <a:ext cx="5532834" cy="6164223"/>
          </a:xfrm>
          <a:prstGeom prst="roundRect">
            <a:avLst>
              <a:gd name="adj" fmla="val 1816"/>
            </a:avLst>
          </a:prstGeom>
          <a:solidFill>
            <a:srgbClr val="0D3B6E"/>
          </a:solidFill>
          <a:ln/>
        </p:spPr>
      </p:sp>
      <p:sp>
        <p:nvSpPr>
          <p:cNvPr id="5" name="Text 3"/>
          <p:cNvSpPr/>
          <p:nvPr/>
        </p:nvSpPr>
        <p:spPr>
          <a:xfrm>
            <a:off x="1852017" y="1692116"/>
            <a:ext cx="1865471" cy="218003"/>
          </a:xfrm>
          <a:prstGeom prst="rect">
            <a:avLst/>
          </a:prstGeom>
          <a:noFill/>
          <a:ln/>
        </p:spPr>
        <p:txBody>
          <a:bodyPr wrap="none" lIns="0" tIns="0" rIns="0" bIns="0" rtlCol="0" anchor="t"/>
          <a:lstStyle/>
          <a:p>
            <a:pPr marL="0" indent="0" algn="l">
              <a:lnSpc>
                <a:spcPts val="1700"/>
              </a:lnSpc>
              <a:buNone/>
            </a:pPr>
            <a:r>
              <a:rPr lang="en-US" sz="1350" b="1" dirty="0">
                <a:solidFill>
                  <a:srgbClr val="FFFFFF"/>
                </a:solidFill>
                <a:latin typeface="Inter Bold" pitchFamily="34" charset="0"/>
                <a:ea typeface="Inter Bold" pitchFamily="34" charset="-122"/>
                <a:cs typeface="Inter Bold" pitchFamily="34" charset="-120"/>
              </a:rPr>
              <a:t>Five Operating Modes</a:t>
            </a:r>
            <a:endParaRPr lang="en-US" sz="1350" dirty="0"/>
          </a:p>
        </p:txBody>
      </p:sp>
      <p:sp>
        <p:nvSpPr>
          <p:cNvPr id="6" name="Text 4"/>
          <p:cNvSpPr/>
          <p:nvPr/>
        </p:nvSpPr>
        <p:spPr>
          <a:xfrm>
            <a:off x="1852017" y="2020491"/>
            <a:ext cx="279083" cy="174427"/>
          </a:xfrm>
          <a:prstGeom prst="rect">
            <a:avLst/>
          </a:prstGeom>
          <a:noFill/>
          <a:ln/>
        </p:spPr>
        <p:txBody>
          <a:bodyPr wrap="none" lIns="0" tIns="0" rIns="0" bIns="0" rtlCol="0" anchor="t"/>
          <a:lstStyle/>
          <a:p>
            <a:pPr marL="0" indent="0" algn="l">
              <a:lnSpc>
                <a:spcPts val="1450"/>
              </a:lnSpc>
              <a:buNone/>
            </a:pPr>
            <a:r>
              <a:rPr lang="en-US" sz="1050" dirty="0">
                <a:solidFill>
                  <a:srgbClr val="FFFFFF"/>
                </a:solidFill>
                <a:latin typeface="Inter Light" pitchFamily="34" charset="0"/>
                <a:ea typeface="Inter Light" pitchFamily="34" charset="-122"/>
                <a:cs typeface="Inter Light" pitchFamily="34" charset="-120"/>
              </a:rPr>
              <a:t>01</a:t>
            </a:r>
            <a:endParaRPr lang="en-US" sz="1050" dirty="0"/>
          </a:p>
        </p:txBody>
      </p:sp>
      <p:sp>
        <p:nvSpPr>
          <p:cNvPr id="7" name="Shape 5"/>
          <p:cNvSpPr/>
          <p:nvPr/>
        </p:nvSpPr>
        <p:spPr>
          <a:xfrm>
            <a:off x="1852017" y="2242423"/>
            <a:ext cx="5253752" cy="15240"/>
          </a:xfrm>
          <a:prstGeom prst="rect">
            <a:avLst/>
          </a:prstGeom>
          <a:solidFill>
            <a:srgbClr val="4950BC"/>
          </a:solidFill>
          <a:ln/>
        </p:spPr>
      </p:sp>
      <p:sp>
        <p:nvSpPr>
          <p:cNvPr id="8" name="Text 6"/>
          <p:cNvSpPr/>
          <p:nvPr/>
        </p:nvSpPr>
        <p:spPr>
          <a:xfrm>
            <a:off x="1852017" y="2342674"/>
            <a:ext cx="1744385" cy="218003"/>
          </a:xfrm>
          <a:prstGeom prst="rect">
            <a:avLst/>
          </a:prstGeom>
          <a:noFill/>
          <a:ln/>
        </p:spPr>
        <p:txBody>
          <a:bodyPr wrap="none" lIns="0" tIns="0" rIns="0" bIns="0" rtlCol="0" anchor="t"/>
          <a:lstStyle/>
          <a:p>
            <a:pPr marL="0" indent="0" algn="l">
              <a:lnSpc>
                <a:spcPts val="1700"/>
              </a:lnSpc>
              <a:buNone/>
            </a:pPr>
            <a:r>
              <a:rPr lang="en-US" sz="1350" b="1" dirty="0">
                <a:solidFill>
                  <a:srgbClr val="FFFFFF"/>
                </a:solidFill>
                <a:latin typeface="Inter Bold" pitchFamily="34" charset="0"/>
                <a:ea typeface="Inter Bold" pitchFamily="34" charset="-122"/>
                <a:cs typeface="Inter Bold" pitchFamily="34" charset="-120"/>
              </a:rPr>
              <a:t>Sequential</a:t>
            </a:r>
            <a:endParaRPr lang="en-US" sz="1350" dirty="0"/>
          </a:p>
        </p:txBody>
      </p:sp>
      <p:sp>
        <p:nvSpPr>
          <p:cNvPr id="9" name="Text 7"/>
          <p:cNvSpPr/>
          <p:nvPr/>
        </p:nvSpPr>
        <p:spPr>
          <a:xfrm>
            <a:off x="1852017" y="2658785"/>
            <a:ext cx="5253752" cy="190024"/>
          </a:xfrm>
          <a:prstGeom prst="rect">
            <a:avLst/>
          </a:prstGeom>
          <a:noFill/>
          <a:ln/>
        </p:spPr>
        <p:txBody>
          <a:bodyPr wrap="none" lIns="0" tIns="0" rIns="0" bIns="0" rtlCol="0" anchor="t"/>
          <a:lstStyle/>
          <a:p>
            <a:pPr marL="0" indent="0" algn="l">
              <a:lnSpc>
                <a:spcPts val="1450"/>
              </a:lnSpc>
              <a:buNone/>
            </a:pPr>
            <a:r>
              <a:rPr lang="en-US" sz="1050" dirty="0">
                <a:solidFill>
                  <a:srgbClr val="FFFFFF"/>
                </a:solidFill>
                <a:latin typeface="Inter" pitchFamily="34" charset="0"/>
                <a:ea typeface="Inter" pitchFamily="34" charset="-122"/>
                <a:cs typeface="Inter" pitchFamily="34" charset="-120"/>
              </a:rPr>
              <a:t>Single-threaded baseline; all tasks executed serially for reference timing.</a:t>
            </a:r>
            <a:endParaRPr lang="en-US" sz="1050" dirty="0"/>
          </a:p>
        </p:txBody>
      </p:sp>
      <p:sp>
        <p:nvSpPr>
          <p:cNvPr id="10" name="Text 8"/>
          <p:cNvSpPr/>
          <p:nvPr/>
        </p:nvSpPr>
        <p:spPr>
          <a:xfrm>
            <a:off x="1852017" y="3051572"/>
            <a:ext cx="279083" cy="174427"/>
          </a:xfrm>
          <a:prstGeom prst="rect">
            <a:avLst/>
          </a:prstGeom>
          <a:noFill/>
          <a:ln/>
        </p:spPr>
        <p:txBody>
          <a:bodyPr wrap="none" lIns="0" tIns="0" rIns="0" bIns="0" rtlCol="0" anchor="t"/>
          <a:lstStyle/>
          <a:p>
            <a:pPr marL="0" indent="0" algn="l">
              <a:lnSpc>
                <a:spcPts val="1450"/>
              </a:lnSpc>
              <a:buNone/>
            </a:pPr>
            <a:r>
              <a:rPr lang="en-US" sz="1050" dirty="0">
                <a:solidFill>
                  <a:srgbClr val="FFFFFF"/>
                </a:solidFill>
                <a:latin typeface="Inter Light" pitchFamily="34" charset="0"/>
                <a:ea typeface="Inter Light" pitchFamily="34" charset="-122"/>
                <a:cs typeface="Inter Light" pitchFamily="34" charset="-120"/>
              </a:rPr>
              <a:t>02</a:t>
            </a:r>
            <a:endParaRPr lang="en-US" sz="1050" dirty="0"/>
          </a:p>
        </p:txBody>
      </p:sp>
      <p:sp>
        <p:nvSpPr>
          <p:cNvPr id="11" name="Shape 9"/>
          <p:cNvSpPr/>
          <p:nvPr/>
        </p:nvSpPr>
        <p:spPr>
          <a:xfrm>
            <a:off x="1852017" y="3273504"/>
            <a:ext cx="5253752" cy="15240"/>
          </a:xfrm>
          <a:prstGeom prst="rect">
            <a:avLst/>
          </a:prstGeom>
          <a:solidFill>
            <a:srgbClr val="4950BC"/>
          </a:solidFill>
          <a:ln/>
        </p:spPr>
      </p:sp>
      <p:sp>
        <p:nvSpPr>
          <p:cNvPr id="12" name="Text 10"/>
          <p:cNvSpPr/>
          <p:nvPr/>
        </p:nvSpPr>
        <p:spPr>
          <a:xfrm>
            <a:off x="1852017" y="3373755"/>
            <a:ext cx="1744385" cy="218003"/>
          </a:xfrm>
          <a:prstGeom prst="rect">
            <a:avLst/>
          </a:prstGeom>
          <a:noFill/>
          <a:ln/>
        </p:spPr>
        <p:txBody>
          <a:bodyPr wrap="none" lIns="0" tIns="0" rIns="0" bIns="0" rtlCol="0" anchor="t"/>
          <a:lstStyle/>
          <a:p>
            <a:pPr marL="0" indent="0" algn="l">
              <a:lnSpc>
                <a:spcPts val="1700"/>
              </a:lnSpc>
              <a:buNone/>
            </a:pPr>
            <a:r>
              <a:rPr lang="en-US" sz="1350" b="1" dirty="0">
                <a:solidFill>
                  <a:srgbClr val="FFFFFF"/>
                </a:solidFill>
                <a:latin typeface="Inter Bold" pitchFamily="34" charset="0"/>
                <a:ea typeface="Inter Bold" pitchFamily="34" charset="-122"/>
                <a:cs typeface="Inter Bold" pitchFamily="34" charset="-120"/>
              </a:rPr>
              <a:t>Static</a:t>
            </a:r>
            <a:endParaRPr lang="en-US" sz="1350" dirty="0"/>
          </a:p>
        </p:txBody>
      </p:sp>
      <p:sp>
        <p:nvSpPr>
          <p:cNvPr id="13" name="Text 11"/>
          <p:cNvSpPr/>
          <p:nvPr/>
        </p:nvSpPr>
        <p:spPr>
          <a:xfrm>
            <a:off x="1852017" y="3689866"/>
            <a:ext cx="5253752" cy="190024"/>
          </a:xfrm>
          <a:prstGeom prst="rect">
            <a:avLst/>
          </a:prstGeom>
          <a:noFill/>
          <a:ln/>
        </p:spPr>
        <p:txBody>
          <a:bodyPr wrap="none" lIns="0" tIns="0" rIns="0" bIns="0" rtlCol="0" anchor="t"/>
          <a:lstStyle/>
          <a:p>
            <a:pPr marL="0" indent="0" algn="l">
              <a:lnSpc>
                <a:spcPts val="1450"/>
              </a:lnSpc>
              <a:buNone/>
            </a:pPr>
            <a:r>
              <a:rPr lang="en-US" sz="1050" dirty="0">
                <a:solidFill>
                  <a:srgbClr val="FFFFFF"/>
                </a:solidFill>
                <a:latin typeface="Inter" pitchFamily="34" charset="0"/>
                <a:ea typeface="Inter" pitchFamily="34" charset="-122"/>
                <a:cs typeface="Inter" pitchFamily="34" charset="-120"/>
              </a:rPr>
              <a:t>Tasks pre-distributed across workers at initialization; no runtime adjustments.</a:t>
            </a:r>
            <a:endParaRPr lang="en-US" sz="1050" dirty="0"/>
          </a:p>
        </p:txBody>
      </p:sp>
      <p:sp>
        <p:nvSpPr>
          <p:cNvPr id="14" name="Text 12"/>
          <p:cNvSpPr/>
          <p:nvPr/>
        </p:nvSpPr>
        <p:spPr>
          <a:xfrm>
            <a:off x="1852017" y="4082653"/>
            <a:ext cx="279083" cy="174427"/>
          </a:xfrm>
          <a:prstGeom prst="rect">
            <a:avLst/>
          </a:prstGeom>
          <a:noFill/>
          <a:ln/>
        </p:spPr>
        <p:txBody>
          <a:bodyPr wrap="none" lIns="0" tIns="0" rIns="0" bIns="0" rtlCol="0" anchor="t"/>
          <a:lstStyle/>
          <a:p>
            <a:pPr marL="0" indent="0" algn="l">
              <a:lnSpc>
                <a:spcPts val="1450"/>
              </a:lnSpc>
              <a:buNone/>
            </a:pPr>
            <a:r>
              <a:rPr lang="en-US" sz="1050" dirty="0">
                <a:solidFill>
                  <a:srgbClr val="FFFFFF"/>
                </a:solidFill>
                <a:latin typeface="Inter Light" pitchFamily="34" charset="0"/>
                <a:ea typeface="Inter Light" pitchFamily="34" charset="-122"/>
                <a:cs typeface="Inter Light" pitchFamily="34" charset="-120"/>
              </a:rPr>
              <a:t>03</a:t>
            </a:r>
            <a:endParaRPr lang="en-US" sz="1050" dirty="0"/>
          </a:p>
        </p:txBody>
      </p:sp>
      <p:sp>
        <p:nvSpPr>
          <p:cNvPr id="15" name="Shape 13"/>
          <p:cNvSpPr/>
          <p:nvPr/>
        </p:nvSpPr>
        <p:spPr>
          <a:xfrm>
            <a:off x="1852017" y="4304586"/>
            <a:ext cx="5253752" cy="15240"/>
          </a:xfrm>
          <a:prstGeom prst="rect">
            <a:avLst/>
          </a:prstGeom>
          <a:solidFill>
            <a:srgbClr val="4950BC"/>
          </a:solidFill>
          <a:ln/>
        </p:spPr>
      </p:sp>
      <p:sp>
        <p:nvSpPr>
          <p:cNvPr id="16" name="Text 14"/>
          <p:cNvSpPr/>
          <p:nvPr/>
        </p:nvSpPr>
        <p:spPr>
          <a:xfrm>
            <a:off x="1852017" y="4404836"/>
            <a:ext cx="1744385" cy="218003"/>
          </a:xfrm>
          <a:prstGeom prst="rect">
            <a:avLst/>
          </a:prstGeom>
          <a:noFill/>
          <a:ln/>
        </p:spPr>
        <p:txBody>
          <a:bodyPr wrap="none" lIns="0" tIns="0" rIns="0" bIns="0" rtlCol="0" anchor="t"/>
          <a:lstStyle/>
          <a:p>
            <a:pPr marL="0" indent="0" algn="l">
              <a:lnSpc>
                <a:spcPts val="1700"/>
              </a:lnSpc>
              <a:buNone/>
            </a:pPr>
            <a:r>
              <a:rPr lang="en-US" sz="1350" b="1" dirty="0">
                <a:solidFill>
                  <a:srgbClr val="FFFFFF"/>
                </a:solidFill>
                <a:latin typeface="Inter Bold" pitchFamily="34" charset="0"/>
                <a:ea typeface="Inter Bold" pitchFamily="34" charset="-122"/>
                <a:cs typeface="Inter Bold" pitchFamily="34" charset="-120"/>
              </a:rPr>
              <a:t>Work-Stealing</a:t>
            </a:r>
            <a:endParaRPr lang="en-US" sz="1350" dirty="0"/>
          </a:p>
        </p:txBody>
      </p:sp>
      <p:sp>
        <p:nvSpPr>
          <p:cNvPr id="17" name="Text 15"/>
          <p:cNvSpPr/>
          <p:nvPr/>
        </p:nvSpPr>
        <p:spPr>
          <a:xfrm>
            <a:off x="1852017" y="4720947"/>
            <a:ext cx="5253752" cy="380047"/>
          </a:xfrm>
          <a:prstGeom prst="rect">
            <a:avLst/>
          </a:prstGeom>
          <a:noFill/>
          <a:ln/>
        </p:spPr>
        <p:txBody>
          <a:bodyPr wrap="square" lIns="0" tIns="0" rIns="0" bIns="0" rtlCol="0" anchor="t"/>
          <a:lstStyle/>
          <a:p>
            <a:pPr marL="0" indent="0" algn="l">
              <a:lnSpc>
                <a:spcPts val="1450"/>
              </a:lnSpc>
              <a:buNone/>
            </a:pPr>
            <a:r>
              <a:rPr lang="en-US" sz="1050" dirty="0">
                <a:solidFill>
                  <a:srgbClr val="FFFFFF"/>
                </a:solidFill>
                <a:latin typeface="Inter" pitchFamily="34" charset="0"/>
                <a:ea typeface="Inter" pitchFamily="34" charset="-122"/>
                <a:cs typeface="Inter" pitchFamily="34" charset="-120"/>
              </a:rPr>
              <a:t>Idle workers dynamically steal tasks from the front of heavily loaded workers' deques.</a:t>
            </a:r>
            <a:endParaRPr lang="en-US" sz="1050" dirty="0"/>
          </a:p>
        </p:txBody>
      </p:sp>
      <p:sp>
        <p:nvSpPr>
          <p:cNvPr id="18" name="Text 16"/>
          <p:cNvSpPr/>
          <p:nvPr/>
        </p:nvSpPr>
        <p:spPr>
          <a:xfrm>
            <a:off x="1852017" y="5303758"/>
            <a:ext cx="279083" cy="174427"/>
          </a:xfrm>
          <a:prstGeom prst="rect">
            <a:avLst/>
          </a:prstGeom>
          <a:noFill/>
          <a:ln/>
        </p:spPr>
        <p:txBody>
          <a:bodyPr wrap="none" lIns="0" tIns="0" rIns="0" bIns="0" rtlCol="0" anchor="t"/>
          <a:lstStyle/>
          <a:p>
            <a:pPr marL="0" indent="0" algn="l">
              <a:lnSpc>
                <a:spcPts val="1450"/>
              </a:lnSpc>
              <a:buNone/>
            </a:pPr>
            <a:r>
              <a:rPr lang="en-US" sz="1050" dirty="0">
                <a:solidFill>
                  <a:srgbClr val="FFFFFF"/>
                </a:solidFill>
                <a:latin typeface="Inter Light" pitchFamily="34" charset="0"/>
                <a:ea typeface="Inter Light" pitchFamily="34" charset="-122"/>
                <a:cs typeface="Inter Light" pitchFamily="34" charset="-120"/>
              </a:rPr>
              <a:t>04</a:t>
            </a:r>
            <a:endParaRPr lang="en-US" sz="1050" dirty="0"/>
          </a:p>
        </p:txBody>
      </p:sp>
      <p:sp>
        <p:nvSpPr>
          <p:cNvPr id="19" name="Shape 17"/>
          <p:cNvSpPr/>
          <p:nvPr/>
        </p:nvSpPr>
        <p:spPr>
          <a:xfrm>
            <a:off x="1852017" y="5525691"/>
            <a:ext cx="5253752" cy="15240"/>
          </a:xfrm>
          <a:prstGeom prst="rect">
            <a:avLst/>
          </a:prstGeom>
          <a:solidFill>
            <a:srgbClr val="4950BC"/>
          </a:solidFill>
          <a:ln/>
        </p:spPr>
      </p:sp>
      <p:sp>
        <p:nvSpPr>
          <p:cNvPr id="20" name="Text 18"/>
          <p:cNvSpPr/>
          <p:nvPr/>
        </p:nvSpPr>
        <p:spPr>
          <a:xfrm>
            <a:off x="1852017" y="5625941"/>
            <a:ext cx="1744385" cy="218003"/>
          </a:xfrm>
          <a:prstGeom prst="rect">
            <a:avLst/>
          </a:prstGeom>
          <a:noFill/>
          <a:ln/>
        </p:spPr>
        <p:txBody>
          <a:bodyPr wrap="none" lIns="0" tIns="0" rIns="0" bIns="0" rtlCol="0" anchor="t"/>
          <a:lstStyle/>
          <a:p>
            <a:pPr marL="0" indent="0" algn="l">
              <a:lnSpc>
                <a:spcPts val="1700"/>
              </a:lnSpc>
              <a:buNone/>
            </a:pPr>
            <a:r>
              <a:rPr lang="en-US" sz="1350" b="1" dirty="0">
                <a:solidFill>
                  <a:srgbClr val="FFFFFF"/>
                </a:solidFill>
                <a:latin typeface="Inter Bold" pitchFamily="34" charset="0"/>
                <a:ea typeface="Inter Bold" pitchFamily="34" charset="-122"/>
                <a:cs typeface="Inter Bold" pitchFamily="34" charset="-120"/>
              </a:rPr>
              <a:t>Adaptive Hybrid</a:t>
            </a:r>
            <a:endParaRPr lang="en-US" sz="1350" dirty="0"/>
          </a:p>
        </p:txBody>
      </p:sp>
      <p:sp>
        <p:nvSpPr>
          <p:cNvPr id="21" name="Text 19"/>
          <p:cNvSpPr/>
          <p:nvPr/>
        </p:nvSpPr>
        <p:spPr>
          <a:xfrm>
            <a:off x="1852017" y="5942052"/>
            <a:ext cx="5253752" cy="380047"/>
          </a:xfrm>
          <a:prstGeom prst="rect">
            <a:avLst/>
          </a:prstGeom>
          <a:noFill/>
          <a:ln/>
        </p:spPr>
        <p:txBody>
          <a:bodyPr wrap="square" lIns="0" tIns="0" rIns="0" bIns="0" rtlCol="0" anchor="t"/>
          <a:lstStyle/>
          <a:p>
            <a:pPr marL="0" indent="0" algn="l">
              <a:lnSpc>
                <a:spcPts val="1450"/>
              </a:lnSpc>
              <a:buNone/>
            </a:pPr>
            <a:r>
              <a:rPr lang="en-US" sz="1050" dirty="0">
                <a:solidFill>
                  <a:srgbClr val="FFFFFF"/>
                </a:solidFill>
                <a:latin typeface="Inter" pitchFamily="34" charset="0"/>
                <a:ea typeface="Inter" pitchFamily="34" charset="-122"/>
                <a:cs typeface="Inter" pitchFamily="34" charset="-120"/>
              </a:rPr>
              <a:t>Combines work-stealing and work-sharing; switches policy based on runtime imbalance metrics.</a:t>
            </a:r>
            <a:endParaRPr lang="en-US" sz="1050" dirty="0"/>
          </a:p>
        </p:txBody>
      </p:sp>
      <p:sp>
        <p:nvSpPr>
          <p:cNvPr id="22" name="Text 20"/>
          <p:cNvSpPr/>
          <p:nvPr/>
        </p:nvSpPr>
        <p:spPr>
          <a:xfrm>
            <a:off x="1852017" y="6524863"/>
            <a:ext cx="279083" cy="174427"/>
          </a:xfrm>
          <a:prstGeom prst="rect">
            <a:avLst/>
          </a:prstGeom>
          <a:noFill/>
          <a:ln/>
        </p:spPr>
        <p:txBody>
          <a:bodyPr wrap="none" lIns="0" tIns="0" rIns="0" bIns="0" rtlCol="0" anchor="t"/>
          <a:lstStyle/>
          <a:p>
            <a:pPr marL="0" indent="0" algn="l">
              <a:lnSpc>
                <a:spcPts val="1450"/>
              </a:lnSpc>
              <a:buNone/>
            </a:pPr>
            <a:r>
              <a:rPr lang="en-US" sz="1050" dirty="0">
                <a:solidFill>
                  <a:srgbClr val="FFFFFF"/>
                </a:solidFill>
                <a:latin typeface="Inter Light" pitchFamily="34" charset="0"/>
                <a:ea typeface="Inter Light" pitchFamily="34" charset="-122"/>
                <a:cs typeface="Inter Light" pitchFamily="34" charset="-120"/>
              </a:rPr>
              <a:t>05</a:t>
            </a:r>
            <a:endParaRPr lang="en-US" sz="1050" dirty="0"/>
          </a:p>
        </p:txBody>
      </p:sp>
      <p:sp>
        <p:nvSpPr>
          <p:cNvPr id="23" name="Shape 21"/>
          <p:cNvSpPr/>
          <p:nvPr/>
        </p:nvSpPr>
        <p:spPr>
          <a:xfrm>
            <a:off x="1852017" y="6746796"/>
            <a:ext cx="5253752" cy="15240"/>
          </a:xfrm>
          <a:prstGeom prst="rect">
            <a:avLst/>
          </a:prstGeom>
          <a:solidFill>
            <a:srgbClr val="4950BC"/>
          </a:solidFill>
          <a:ln/>
        </p:spPr>
      </p:sp>
      <p:sp>
        <p:nvSpPr>
          <p:cNvPr id="24" name="Text 22"/>
          <p:cNvSpPr/>
          <p:nvPr/>
        </p:nvSpPr>
        <p:spPr>
          <a:xfrm>
            <a:off x="1852017" y="6847046"/>
            <a:ext cx="1744385" cy="218003"/>
          </a:xfrm>
          <a:prstGeom prst="rect">
            <a:avLst/>
          </a:prstGeom>
          <a:noFill/>
          <a:ln/>
        </p:spPr>
        <p:txBody>
          <a:bodyPr wrap="none" lIns="0" tIns="0" rIns="0" bIns="0" rtlCol="0" anchor="t"/>
          <a:lstStyle/>
          <a:p>
            <a:pPr marL="0" indent="0" algn="l">
              <a:lnSpc>
                <a:spcPts val="1700"/>
              </a:lnSpc>
              <a:buNone/>
            </a:pPr>
            <a:r>
              <a:rPr lang="en-US" sz="1350" b="1" dirty="0">
                <a:solidFill>
                  <a:srgbClr val="FFFFFF"/>
                </a:solidFill>
                <a:latin typeface="Inter Bold" pitchFamily="34" charset="0"/>
                <a:ea typeface="Inter Bold" pitchFamily="34" charset="-122"/>
                <a:cs typeface="Inter Bold" pitchFamily="34" charset="-120"/>
              </a:rPr>
              <a:t>OpenMP Baseline</a:t>
            </a:r>
            <a:endParaRPr lang="en-US" sz="1350" dirty="0"/>
          </a:p>
        </p:txBody>
      </p:sp>
      <p:sp>
        <p:nvSpPr>
          <p:cNvPr id="25" name="Text 23"/>
          <p:cNvSpPr/>
          <p:nvPr/>
        </p:nvSpPr>
        <p:spPr>
          <a:xfrm>
            <a:off x="1852017" y="7163157"/>
            <a:ext cx="5253752" cy="380047"/>
          </a:xfrm>
          <a:prstGeom prst="rect">
            <a:avLst/>
          </a:prstGeom>
          <a:noFill/>
          <a:ln/>
        </p:spPr>
        <p:txBody>
          <a:bodyPr wrap="square" lIns="0" tIns="0" rIns="0" bIns="0" rtlCol="0" anchor="t"/>
          <a:lstStyle/>
          <a:p>
            <a:pPr marL="0" indent="0" algn="l">
              <a:lnSpc>
                <a:spcPts val="1450"/>
              </a:lnSpc>
              <a:buNone/>
            </a:pPr>
            <a:r>
              <a:rPr lang="en-US" sz="1050" dirty="0">
                <a:solidFill>
                  <a:srgbClr val="FFFFFF"/>
                </a:solidFill>
                <a:latin typeface="Inter" pitchFamily="34" charset="0"/>
                <a:ea typeface="Inter" pitchFamily="34" charset="-122"/>
                <a:cs typeface="Inter" pitchFamily="34" charset="-120"/>
              </a:rPr>
              <a:t>Industry-standard </a:t>
            </a:r>
            <a:r>
              <a:rPr lang="en-US" sz="1050" dirty="0">
                <a:solidFill>
                  <a:srgbClr val="FFFFFF"/>
                </a:solidFill>
                <a:highlight>
                  <a:srgbClr val="1A487B"/>
                </a:highlight>
                <a:latin typeface="Consolas" pitchFamily="34" charset="0"/>
                <a:ea typeface="Consolas" pitchFamily="34" charset="-122"/>
                <a:cs typeface="Consolas" pitchFamily="34" charset="-120"/>
              </a:rPr>
              <a:t>#pragma omp</a:t>
            </a:r>
            <a:r>
              <a:rPr lang="en-US" sz="1050" dirty="0">
                <a:solidFill>
                  <a:srgbClr val="FFFFFF"/>
                </a:solidFill>
                <a:latin typeface="Inter" pitchFamily="34" charset="0"/>
                <a:ea typeface="Inter" pitchFamily="34" charset="-122"/>
                <a:cs typeface="Inter" pitchFamily="34" charset="-120"/>
              </a:rPr>
              <a:t> directives; serves as the competitive benchmark.</a:t>
            </a:r>
            <a:endParaRPr lang="en-US" sz="1050" dirty="0"/>
          </a:p>
        </p:txBody>
      </p:sp>
      <p:sp>
        <p:nvSpPr>
          <p:cNvPr id="26" name="Text 24"/>
          <p:cNvSpPr/>
          <p:nvPr/>
        </p:nvSpPr>
        <p:spPr>
          <a:xfrm>
            <a:off x="7492841" y="1692116"/>
            <a:ext cx="2340888" cy="218003"/>
          </a:xfrm>
          <a:prstGeom prst="rect">
            <a:avLst/>
          </a:prstGeom>
          <a:noFill/>
          <a:ln/>
        </p:spPr>
        <p:txBody>
          <a:bodyPr wrap="none" lIns="0" tIns="0" rIns="0" bIns="0" rtlCol="0" anchor="t"/>
          <a:lstStyle/>
          <a:p>
            <a:pPr marL="0" indent="0" algn="l">
              <a:lnSpc>
                <a:spcPts val="1700"/>
              </a:lnSpc>
              <a:buNone/>
            </a:pPr>
            <a:r>
              <a:rPr lang="en-US" sz="1350" b="1" dirty="0">
                <a:solidFill>
                  <a:srgbClr val="000000"/>
                </a:solidFill>
                <a:latin typeface="Inter Bold" pitchFamily="34" charset="0"/>
                <a:ea typeface="Inter Bold" pitchFamily="34" charset="-122"/>
                <a:cs typeface="Inter Bold" pitchFamily="34" charset="-120"/>
              </a:rPr>
              <a:t>Core Adaptive Mechanisms</a:t>
            </a:r>
            <a:endParaRPr lang="en-US" sz="1350" dirty="0"/>
          </a:p>
        </p:txBody>
      </p:sp>
      <p:sp>
        <p:nvSpPr>
          <p:cNvPr id="27" name="Shape 25"/>
          <p:cNvSpPr/>
          <p:nvPr/>
        </p:nvSpPr>
        <p:spPr>
          <a:xfrm>
            <a:off x="7492841" y="2020491"/>
            <a:ext cx="2616994" cy="2553891"/>
          </a:xfrm>
          <a:prstGeom prst="roundRect">
            <a:avLst>
              <a:gd name="adj" fmla="val 2295"/>
            </a:avLst>
          </a:prstGeom>
          <a:solidFill>
            <a:srgbClr val="FFFFFF"/>
          </a:solidFill>
          <a:ln w="15240">
            <a:solidFill>
              <a:srgbClr val="C0C1D7"/>
            </a:solidFill>
            <a:prstDash val="solid"/>
          </a:ln>
        </p:spPr>
      </p:sp>
      <p:sp>
        <p:nvSpPr>
          <p:cNvPr id="28" name="Text 26"/>
          <p:cNvSpPr/>
          <p:nvPr/>
        </p:nvSpPr>
        <p:spPr>
          <a:xfrm>
            <a:off x="7647623" y="2175272"/>
            <a:ext cx="1744385" cy="218003"/>
          </a:xfrm>
          <a:prstGeom prst="rect">
            <a:avLst/>
          </a:prstGeom>
          <a:noFill/>
          <a:ln/>
        </p:spPr>
        <p:txBody>
          <a:bodyPr wrap="none" lIns="0" tIns="0" rIns="0" bIns="0" rtlCol="0" anchor="t"/>
          <a:lstStyle/>
          <a:p>
            <a:pPr marL="0" indent="0" algn="l">
              <a:lnSpc>
                <a:spcPts val="1700"/>
              </a:lnSpc>
              <a:buNone/>
            </a:pPr>
            <a:r>
              <a:rPr lang="en-US" sz="1350" b="1" dirty="0">
                <a:solidFill>
                  <a:srgbClr val="272525"/>
                </a:solidFill>
                <a:latin typeface="Inter Bold" pitchFamily="34" charset="0"/>
                <a:ea typeface="Inter Bold" pitchFamily="34" charset="-122"/>
                <a:cs typeface="Inter Bold" pitchFamily="34" charset="-120"/>
              </a:rPr>
              <a:t>Cost-Aware Gating</a:t>
            </a:r>
            <a:endParaRPr lang="en-US" sz="1350" dirty="0"/>
          </a:p>
        </p:txBody>
      </p:sp>
      <p:sp>
        <p:nvSpPr>
          <p:cNvPr id="29" name="Text 27"/>
          <p:cNvSpPr/>
          <p:nvPr/>
        </p:nvSpPr>
        <p:spPr>
          <a:xfrm>
            <a:off x="7647623" y="2491383"/>
            <a:ext cx="2307431" cy="1710214"/>
          </a:xfrm>
          <a:prstGeom prst="rect">
            <a:avLst/>
          </a:prstGeom>
          <a:noFill/>
          <a:ln/>
        </p:spPr>
        <p:txBody>
          <a:bodyPr wrap="square" lIns="0" tIns="0" rIns="0" bIns="0" rtlCol="0" anchor="t"/>
          <a:lstStyle/>
          <a:p>
            <a:pPr marL="0" indent="0" algn="l">
              <a:lnSpc>
                <a:spcPts val="1450"/>
              </a:lnSpc>
              <a:buNone/>
            </a:pPr>
            <a:r>
              <a:rPr lang="en-US" sz="1050" dirty="0">
                <a:solidFill>
                  <a:srgbClr val="272525"/>
                </a:solidFill>
                <a:latin typeface="Inter" pitchFamily="34" charset="0"/>
                <a:ea typeface="Inter" pitchFamily="34" charset="-122"/>
                <a:cs typeface="Inter" pitchFamily="34" charset="-120"/>
              </a:rPr>
              <a:t>A task is stolen or shared </a:t>
            </a:r>
            <a:r>
              <a:rPr lang="en-US" sz="1050" b="1" dirty="0">
                <a:solidFill>
                  <a:srgbClr val="272525"/>
                </a:solidFill>
                <a:latin typeface="Inter" pitchFamily="34" charset="0"/>
                <a:ea typeface="Inter" pitchFamily="34" charset="-122"/>
                <a:cs typeface="Inter" pitchFamily="34" charset="-120"/>
              </a:rPr>
              <a:t>only if</a:t>
            </a:r>
            <a:r>
              <a:rPr lang="en-US" sz="1050" dirty="0">
                <a:solidFill>
                  <a:srgbClr val="272525"/>
                </a:solidFill>
                <a:latin typeface="Inter" pitchFamily="34" charset="0"/>
                <a:ea typeface="Inter" pitchFamily="34" charset="-122"/>
                <a:cs typeface="Inter" pitchFamily="34" charset="-120"/>
              </a:rPr>
              <a:t> its estimated computational cost exceeds a predefined threshold τ. This prevents the scheduler from thrashing on microscopic tasks (e.g., Fibonacci(2)), suppressing synchronization overhead where migration costs exceed computation savings.</a:t>
            </a:r>
            <a:endParaRPr lang="en-US" sz="1050" dirty="0"/>
          </a:p>
        </p:txBody>
      </p:sp>
      <p:sp>
        <p:nvSpPr>
          <p:cNvPr id="30" name="Shape 28"/>
          <p:cNvSpPr/>
          <p:nvPr/>
        </p:nvSpPr>
        <p:spPr>
          <a:xfrm>
            <a:off x="10207943" y="2020491"/>
            <a:ext cx="2616994" cy="2553891"/>
          </a:xfrm>
          <a:prstGeom prst="roundRect">
            <a:avLst>
              <a:gd name="adj" fmla="val 2295"/>
            </a:avLst>
          </a:prstGeom>
          <a:solidFill>
            <a:srgbClr val="FFFFFF"/>
          </a:solidFill>
          <a:ln w="15240">
            <a:solidFill>
              <a:srgbClr val="C0C1D7"/>
            </a:solidFill>
            <a:prstDash val="solid"/>
          </a:ln>
        </p:spPr>
      </p:sp>
      <p:sp>
        <p:nvSpPr>
          <p:cNvPr id="31" name="Text 29"/>
          <p:cNvSpPr/>
          <p:nvPr/>
        </p:nvSpPr>
        <p:spPr>
          <a:xfrm>
            <a:off x="10362724" y="2175272"/>
            <a:ext cx="2307431" cy="436007"/>
          </a:xfrm>
          <a:prstGeom prst="rect">
            <a:avLst/>
          </a:prstGeom>
          <a:noFill/>
          <a:ln/>
        </p:spPr>
        <p:txBody>
          <a:bodyPr wrap="square" lIns="0" tIns="0" rIns="0" bIns="0" rtlCol="0" anchor="t"/>
          <a:lstStyle/>
          <a:p>
            <a:pPr marL="0" indent="0" algn="l">
              <a:lnSpc>
                <a:spcPts val="1700"/>
              </a:lnSpc>
              <a:buNone/>
            </a:pPr>
            <a:r>
              <a:rPr lang="en-US" sz="1350" b="1" dirty="0">
                <a:solidFill>
                  <a:srgbClr val="272525"/>
                </a:solidFill>
                <a:latin typeface="Inter Bold" pitchFamily="34" charset="0"/>
                <a:ea typeface="Inter Bold" pitchFamily="34" charset="-122"/>
                <a:cs typeface="Inter Bold" pitchFamily="34" charset="-120"/>
              </a:rPr>
              <a:t>Locality-Aware Victim Selection</a:t>
            </a:r>
            <a:endParaRPr lang="en-US" sz="1350" dirty="0"/>
          </a:p>
        </p:txBody>
      </p:sp>
      <p:sp>
        <p:nvSpPr>
          <p:cNvPr id="32" name="Text 30"/>
          <p:cNvSpPr/>
          <p:nvPr/>
        </p:nvSpPr>
        <p:spPr>
          <a:xfrm>
            <a:off x="10362724" y="2709386"/>
            <a:ext cx="2307431" cy="1710214"/>
          </a:xfrm>
          <a:prstGeom prst="rect">
            <a:avLst/>
          </a:prstGeom>
          <a:noFill/>
          <a:ln/>
        </p:spPr>
        <p:txBody>
          <a:bodyPr wrap="square" lIns="0" tIns="0" rIns="0" bIns="0" rtlCol="0" anchor="t"/>
          <a:lstStyle/>
          <a:p>
            <a:pPr marL="0" indent="0" algn="l">
              <a:lnSpc>
                <a:spcPts val="1450"/>
              </a:lnSpc>
              <a:buNone/>
            </a:pPr>
            <a:r>
              <a:rPr lang="en-US" sz="1050" dirty="0">
                <a:solidFill>
                  <a:srgbClr val="272525"/>
                </a:solidFill>
                <a:latin typeface="Inter" pitchFamily="34" charset="0"/>
                <a:ea typeface="Inter" pitchFamily="34" charset="-122"/>
                <a:cs typeface="Inter" pitchFamily="34" charset="-120"/>
              </a:rPr>
              <a:t>Workers are grouped into simulated NUMA locality nodes using a locality identifier. Stealing and sharing operations </a:t>
            </a:r>
            <a:r>
              <a:rPr lang="en-US" sz="1050" b="1" dirty="0">
                <a:solidFill>
                  <a:srgbClr val="272525"/>
                </a:solidFill>
                <a:latin typeface="Inter" pitchFamily="34" charset="0"/>
                <a:ea typeface="Inter" pitchFamily="34" charset="-122"/>
                <a:cs typeface="Inter" pitchFamily="34" charset="-120"/>
              </a:rPr>
              <a:t>prioritize same-group threads first</a:t>
            </a:r>
            <a:r>
              <a:rPr lang="en-US" sz="1050" dirty="0">
                <a:solidFill>
                  <a:srgbClr val="272525"/>
                </a:solidFill>
                <a:latin typeface="Inter" pitchFamily="34" charset="0"/>
                <a:ea typeface="Inter" pitchFamily="34" charset="-122"/>
                <a:cs typeface="Inter" pitchFamily="34" charset="-120"/>
              </a:rPr>
              <a:t>, crossing group boundaries only when intra-group options are exhausted — minimizing cross-node memory access latency.</a:t>
            </a:r>
            <a:endParaRPr lang="en-US" sz="1050" dirty="0"/>
          </a:p>
        </p:txBody>
      </p:sp>
      <p:sp>
        <p:nvSpPr>
          <p:cNvPr id="33" name="Shape 31"/>
          <p:cNvSpPr/>
          <p:nvPr/>
        </p:nvSpPr>
        <p:spPr>
          <a:xfrm>
            <a:off x="7492841" y="4672489"/>
            <a:ext cx="5332095" cy="1385768"/>
          </a:xfrm>
          <a:prstGeom prst="roundRect">
            <a:avLst>
              <a:gd name="adj" fmla="val 4230"/>
            </a:avLst>
          </a:prstGeom>
          <a:solidFill>
            <a:srgbClr val="FFFFFF"/>
          </a:solidFill>
          <a:ln w="15240">
            <a:solidFill>
              <a:srgbClr val="C0C1D7"/>
            </a:solidFill>
            <a:prstDash val="solid"/>
          </a:ln>
        </p:spPr>
      </p:sp>
      <p:sp>
        <p:nvSpPr>
          <p:cNvPr id="34" name="Text 32"/>
          <p:cNvSpPr/>
          <p:nvPr/>
        </p:nvSpPr>
        <p:spPr>
          <a:xfrm>
            <a:off x="7647623" y="4827270"/>
            <a:ext cx="2658189" cy="218003"/>
          </a:xfrm>
          <a:prstGeom prst="rect">
            <a:avLst/>
          </a:prstGeom>
          <a:noFill/>
          <a:ln/>
        </p:spPr>
        <p:txBody>
          <a:bodyPr wrap="none" lIns="0" tIns="0" rIns="0" bIns="0" rtlCol="0" anchor="t"/>
          <a:lstStyle/>
          <a:p>
            <a:pPr marL="0" indent="0" algn="l">
              <a:lnSpc>
                <a:spcPts val="1700"/>
              </a:lnSpc>
              <a:buNone/>
            </a:pPr>
            <a:r>
              <a:rPr lang="en-US" sz="1350" b="1" dirty="0">
                <a:solidFill>
                  <a:srgbClr val="272525"/>
                </a:solidFill>
                <a:latin typeface="Inter Bold" pitchFamily="34" charset="0"/>
                <a:ea typeface="Inter Bold" pitchFamily="34" charset="-122"/>
                <a:cs typeface="Inter Bold" pitchFamily="34" charset="-120"/>
              </a:rPr>
              <a:t>Work-First vs. Help-First Policy</a:t>
            </a:r>
            <a:endParaRPr lang="en-US" sz="1350" dirty="0"/>
          </a:p>
        </p:txBody>
      </p:sp>
      <p:sp>
        <p:nvSpPr>
          <p:cNvPr id="35" name="Text 33"/>
          <p:cNvSpPr/>
          <p:nvPr/>
        </p:nvSpPr>
        <p:spPr>
          <a:xfrm>
            <a:off x="7647623" y="5143381"/>
            <a:ext cx="5022533" cy="760095"/>
          </a:xfrm>
          <a:prstGeom prst="rect">
            <a:avLst/>
          </a:prstGeom>
          <a:noFill/>
          <a:ln/>
        </p:spPr>
        <p:txBody>
          <a:bodyPr wrap="square" lIns="0" tIns="0" rIns="0" bIns="0" rtlCol="0" anchor="t"/>
          <a:lstStyle/>
          <a:p>
            <a:pPr marL="0" indent="0" algn="l">
              <a:lnSpc>
                <a:spcPts val="1450"/>
              </a:lnSpc>
              <a:buNone/>
            </a:pPr>
            <a:r>
              <a:rPr lang="en-US" sz="1050" dirty="0">
                <a:solidFill>
                  <a:srgbClr val="272525"/>
                </a:solidFill>
                <a:latin typeface="Inter" pitchFamily="34" charset="0"/>
                <a:ea typeface="Inter" pitchFamily="34" charset="-122"/>
                <a:cs typeface="Inter" pitchFamily="34" charset="-120"/>
              </a:rPr>
              <a:t>The scheduler dynamically toggles between </a:t>
            </a:r>
            <a:r>
              <a:rPr lang="en-US" sz="1050" b="1" dirty="0">
                <a:solidFill>
                  <a:srgbClr val="272525"/>
                </a:solidFill>
                <a:latin typeface="Inter" pitchFamily="34" charset="0"/>
                <a:ea typeface="Inter" pitchFamily="34" charset="-122"/>
                <a:cs typeface="Inter" pitchFamily="34" charset="-120"/>
              </a:rPr>
              <a:t>Work-First</a:t>
            </a:r>
            <a:r>
              <a:rPr lang="en-US" sz="1050" dirty="0">
                <a:solidFill>
                  <a:srgbClr val="272525"/>
                </a:solidFill>
                <a:latin typeface="Inter" pitchFamily="34" charset="0"/>
                <a:ea typeface="Inter" pitchFamily="34" charset="-122"/>
                <a:cs typeface="Inter" pitchFamily="34" charset="-120"/>
              </a:rPr>
              <a:t> (local execution priority, low overhead) and </a:t>
            </a:r>
            <a:r>
              <a:rPr lang="en-US" sz="1050" b="1" dirty="0">
                <a:solidFill>
                  <a:srgbClr val="272525"/>
                </a:solidFill>
                <a:latin typeface="Inter" pitchFamily="34" charset="0"/>
                <a:ea typeface="Inter" pitchFamily="34" charset="-122"/>
                <a:cs typeface="Inter" pitchFamily="34" charset="-120"/>
              </a:rPr>
              <a:t>Help-First</a:t>
            </a:r>
            <a:r>
              <a:rPr lang="en-US" sz="1050" dirty="0">
                <a:solidFill>
                  <a:srgbClr val="272525"/>
                </a:solidFill>
                <a:latin typeface="Inter" pitchFamily="34" charset="0"/>
                <a:ea typeface="Inter" pitchFamily="34" charset="-122"/>
                <a:cs typeface="Inter" pitchFamily="34" charset="-120"/>
              </a:rPr>
              <a:t> (active task pushing during high imbalance) by comparing steal rate against task creation rate per millisecond in real time.</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2301954" y="373380"/>
            <a:ext cx="3189803" cy="397312"/>
          </a:xfrm>
          <a:prstGeom prst="rect">
            <a:avLst/>
          </a:prstGeom>
          <a:noFill/>
          <a:ln/>
        </p:spPr>
        <p:txBody>
          <a:bodyPr wrap="none" lIns="0" tIns="0" rIns="0" bIns="0" rtlCol="0" anchor="t"/>
          <a:lstStyle/>
          <a:p>
            <a:pPr marL="0" indent="0" algn="l">
              <a:lnSpc>
                <a:spcPts val="3100"/>
              </a:lnSpc>
              <a:buNone/>
            </a:pPr>
            <a:r>
              <a:rPr lang="en-US" sz="2500" b="1" dirty="0">
                <a:solidFill>
                  <a:srgbClr val="000000"/>
                </a:solidFill>
                <a:latin typeface="Inter Bold" pitchFamily="34" charset="0"/>
                <a:ea typeface="Inter Bold" pitchFamily="34" charset="-122"/>
                <a:cs typeface="Inter Bold" pitchFamily="34" charset="-120"/>
              </a:rPr>
              <a:t>System Architecture</a:t>
            </a:r>
            <a:endParaRPr lang="en-US" sz="2500" dirty="0"/>
          </a:p>
        </p:txBody>
      </p:sp>
      <p:sp>
        <p:nvSpPr>
          <p:cNvPr id="3" name="Text 1"/>
          <p:cNvSpPr/>
          <p:nvPr/>
        </p:nvSpPr>
        <p:spPr>
          <a:xfrm>
            <a:off x="2301954" y="933569"/>
            <a:ext cx="10026491" cy="333613"/>
          </a:xfrm>
          <a:prstGeom prst="rect">
            <a:avLst/>
          </a:prstGeom>
          <a:noFill/>
          <a:ln/>
        </p:spPr>
        <p:txBody>
          <a:bodyPr wrap="square" lIns="0" tIns="0" rIns="0" bIns="0" rtlCol="0" anchor="t"/>
          <a:lstStyle/>
          <a:p>
            <a:pPr marL="0" indent="0" algn="l">
              <a:lnSpc>
                <a:spcPts val="1300"/>
              </a:lnSpc>
              <a:buNone/>
            </a:pPr>
            <a:r>
              <a:rPr lang="en-US" sz="1000" dirty="0">
                <a:solidFill>
                  <a:srgbClr val="272525"/>
                </a:solidFill>
                <a:latin typeface="Inter" pitchFamily="34" charset="0"/>
                <a:ea typeface="Inter" pitchFamily="34" charset="-122"/>
                <a:cs typeface="Inter" pitchFamily="34" charset="-120"/>
              </a:rPr>
              <a:t>The scheduler is organized as a three-tier hierarchical system. Each tier has clearly defined responsibilities, and communication flows downward for task dispatch and upward for metrics and load-state feedback.</a:t>
            </a:r>
            <a:endParaRPr lang="en-US" sz="1000" dirty="0"/>
          </a:p>
        </p:txBody>
      </p:sp>
      <p:pic>
        <p:nvPicPr>
          <p:cNvPr id="4" name="Image 0" descr="preencoded.png"/>
          <p:cNvPicPr>
            <a:picLocks noChangeAspect="1"/>
          </p:cNvPicPr>
          <p:nvPr/>
        </p:nvPicPr>
        <p:blipFill>
          <a:blip r:embed="rId3"/>
          <a:stretch>
            <a:fillRect/>
          </a:stretch>
        </p:blipFill>
        <p:spPr>
          <a:xfrm>
            <a:off x="2301954" y="1358741"/>
            <a:ext cx="10026491" cy="4588550"/>
          </a:xfrm>
          <a:prstGeom prst="rect">
            <a:avLst/>
          </a:prstGeom>
        </p:spPr>
      </p:pic>
      <p:sp>
        <p:nvSpPr>
          <p:cNvPr id="5" name="Text 2"/>
          <p:cNvSpPr/>
          <p:nvPr/>
        </p:nvSpPr>
        <p:spPr>
          <a:xfrm>
            <a:off x="9646387" y="1980205"/>
            <a:ext cx="2217950" cy="277244"/>
          </a:xfrm>
          <a:prstGeom prst="rect">
            <a:avLst/>
          </a:prstGeom>
          <a:noFill/>
          <a:ln/>
        </p:spPr>
        <p:txBody>
          <a:bodyPr wrap="none" lIns="0" tIns="0" rIns="0" bIns="0" rtlCol="0" anchor="t"/>
          <a:lstStyle/>
          <a:p>
            <a:pPr marL="0" indent="0" algn="l">
              <a:lnSpc>
                <a:spcPts val="2150"/>
              </a:lnSpc>
              <a:buNone/>
            </a:pPr>
            <a:r>
              <a:rPr lang="en-US" sz="1700" b="1" dirty="0">
                <a:solidFill>
                  <a:srgbClr val="272525"/>
                </a:solidFill>
                <a:latin typeface="Inter Bold" pitchFamily="34" charset="0"/>
                <a:ea typeface="Inter Bold" pitchFamily="34" charset="-122"/>
                <a:cs typeface="Inter Bold" pitchFamily="34" charset="-120"/>
              </a:rPr>
              <a:t>Tasks</a:t>
            </a:r>
            <a:endParaRPr lang="en-US" sz="1700" dirty="0"/>
          </a:p>
        </p:txBody>
      </p:sp>
      <p:sp>
        <p:nvSpPr>
          <p:cNvPr id="6" name="Text 3"/>
          <p:cNvSpPr/>
          <p:nvPr/>
        </p:nvSpPr>
        <p:spPr>
          <a:xfrm>
            <a:off x="9646387" y="2336309"/>
            <a:ext cx="2444674" cy="363805"/>
          </a:xfrm>
          <a:prstGeom prst="rect">
            <a:avLst/>
          </a:prstGeom>
          <a:noFill/>
          <a:ln/>
        </p:spPr>
        <p:txBody>
          <a:bodyPr wrap="square" lIns="0" tIns="0" rIns="0" bIns="0" rtlCol="0" anchor="t"/>
          <a:lstStyle/>
          <a:p>
            <a:pPr marL="0" indent="0" algn="l">
              <a:lnSpc>
                <a:spcPts val="1400"/>
              </a:lnSpc>
              <a:buNone/>
            </a:pPr>
            <a:r>
              <a:rPr lang="en-US" sz="1350" dirty="0">
                <a:solidFill>
                  <a:srgbClr val="272525"/>
                </a:solidFill>
                <a:latin typeface="Inter" pitchFamily="34" charset="0"/>
                <a:ea typeface="Inter" pitchFamily="34" charset="-122"/>
                <a:cs typeface="Inter" pitchFamily="34" charset="-120"/>
              </a:rPr>
              <a:t>Metadata: cost estimate, depth, unique ID</a:t>
            </a:r>
            <a:endParaRPr lang="en-US" sz="1350" dirty="0"/>
          </a:p>
        </p:txBody>
      </p:sp>
      <p:sp>
        <p:nvSpPr>
          <p:cNvPr id="7" name="Text 4"/>
          <p:cNvSpPr/>
          <p:nvPr/>
        </p:nvSpPr>
        <p:spPr>
          <a:xfrm>
            <a:off x="2568661" y="3397383"/>
            <a:ext cx="2217950" cy="277244"/>
          </a:xfrm>
          <a:prstGeom prst="rect">
            <a:avLst/>
          </a:prstGeom>
          <a:noFill/>
          <a:ln/>
        </p:spPr>
        <p:txBody>
          <a:bodyPr wrap="none" lIns="0" tIns="0" rIns="0" bIns="0" rtlCol="0" anchor="t"/>
          <a:lstStyle/>
          <a:p>
            <a:pPr marL="0" indent="0" algn="r">
              <a:lnSpc>
                <a:spcPts val="2150"/>
              </a:lnSpc>
              <a:buNone/>
            </a:pPr>
            <a:r>
              <a:rPr lang="en-US" sz="1700" b="1" dirty="0">
                <a:solidFill>
                  <a:srgbClr val="272525"/>
                </a:solidFill>
                <a:latin typeface="Inter Bold" pitchFamily="34" charset="0"/>
                <a:ea typeface="Inter Bold" pitchFamily="34" charset="-122"/>
                <a:cs typeface="Inter Bold" pitchFamily="34" charset="-120"/>
              </a:rPr>
              <a:t>Workers</a:t>
            </a:r>
            <a:endParaRPr lang="en-US" sz="1700" dirty="0"/>
          </a:p>
        </p:txBody>
      </p:sp>
      <p:sp>
        <p:nvSpPr>
          <p:cNvPr id="8" name="Text 5"/>
          <p:cNvSpPr/>
          <p:nvPr/>
        </p:nvSpPr>
        <p:spPr>
          <a:xfrm>
            <a:off x="2539089" y="3753487"/>
            <a:ext cx="2247523" cy="545709"/>
          </a:xfrm>
          <a:prstGeom prst="rect">
            <a:avLst/>
          </a:prstGeom>
          <a:noFill/>
          <a:ln/>
        </p:spPr>
        <p:txBody>
          <a:bodyPr wrap="square" lIns="0" tIns="0" rIns="0" bIns="0" rtlCol="0" anchor="t"/>
          <a:lstStyle/>
          <a:p>
            <a:pPr marL="0" indent="0" algn="r">
              <a:lnSpc>
                <a:spcPts val="1400"/>
              </a:lnSpc>
              <a:buNone/>
            </a:pPr>
            <a:r>
              <a:rPr lang="en-US" sz="1350" dirty="0">
                <a:solidFill>
                  <a:srgbClr val="272525"/>
                </a:solidFill>
                <a:latin typeface="Inter" pitchFamily="34" charset="0"/>
                <a:ea typeface="Inter" pitchFamily="34" charset="-122"/>
                <a:cs typeface="Inter" pitchFamily="34" charset="-120"/>
              </a:rPr>
              <a:t>Threads with local deques, steal/share, locality groups</a:t>
            </a:r>
            <a:endParaRPr lang="en-US" sz="1350" dirty="0"/>
          </a:p>
        </p:txBody>
      </p:sp>
      <p:sp>
        <p:nvSpPr>
          <p:cNvPr id="9" name="Text 6"/>
          <p:cNvSpPr/>
          <p:nvPr/>
        </p:nvSpPr>
        <p:spPr>
          <a:xfrm>
            <a:off x="9646387" y="4176129"/>
            <a:ext cx="2217950" cy="277244"/>
          </a:xfrm>
          <a:prstGeom prst="rect">
            <a:avLst/>
          </a:prstGeom>
          <a:noFill/>
          <a:ln/>
        </p:spPr>
        <p:txBody>
          <a:bodyPr wrap="none" lIns="0" tIns="0" rIns="0" bIns="0" rtlCol="0" anchor="t"/>
          <a:lstStyle/>
          <a:p>
            <a:pPr marL="0" indent="0" algn="l">
              <a:lnSpc>
                <a:spcPts val="2150"/>
              </a:lnSpc>
              <a:buNone/>
            </a:pPr>
            <a:r>
              <a:rPr lang="en-US" sz="1700" b="1" dirty="0">
                <a:solidFill>
                  <a:srgbClr val="272525"/>
                </a:solidFill>
                <a:latin typeface="Inter Bold" pitchFamily="34" charset="0"/>
                <a:ea typeface="Inter Bold" pitchFamily="34" charset="-122"/>
                <a:cs typeface="Inter Bold" pitchFamily="34" charset="-120"/>
              </a:rPr>
              <a:t>Scheduler</a:t>
            </a:r>
            <a:endParaRPr lang="en-US" sz="1700" dirty="0"/>
          </a:p>
        </p:txBody>
      </p:sp>
      <p:sp>
        <p:nvSpPr>
          <p:cNvPr id="10" name="Text 7"/>
          <p:cNvSpPr/>
          <p:nvPr/>
        </p:nvSpPr>
        <p:spPr>
          <a:xfrm>
            <a:off x="9646387" y="4532234"/>
            <a:ext cx="2444674" cy="545708"/>
          </a:xfrm>
          <a:prstGeom prst="rect">
            <a:avLst/>
          </a:prstGeom>
          <a:noFill/>
          <a:ln/>
        </p:spPr>
        <p:txBody>
          <a:bodyPr wrap="square" lIns="0" tIns="0" rIns="0" bIns="0" rtlCol="0" anchor="t"/>
          <a:lstStyle/>
          <a:p>
            <a:pPr marL="0" indent="0" algn="l">
              <a:lnSpc>
                <a:spcPts val="1400"/>
              </a:lnSpc>
              <a:buNone/>
            </a:pPr>
            <a:r>
              <a:rPr lang="en-US" sz="1350" dirty="0">
                <a:solidFill>
                  <a:srgbClr val="272525"/>
                </a:solidFill>
                <a:latin typeface="Inter" pitchFamily="34" charset="0"/>
                <a:ea typeface="Inter" pitchFamily="34" charset="-122"/>
                <a:cs typeface="Inter" pitchFamily="34" charset="-120"/>
              </a:rPr>
              <a:t>Controls distribution, balancing, and policy switching</a:t>
            </a:r>
            <a:endParaRPr lang="en-US" sz="1350" dirty="0"/>
          </a:p>
        </p:txBody>
      </p:sp>
      <p:sp>
        <p:nvSpPr>
          <p:cNvPr id="11" name="Text 8"/>
          <p:cNvSpPr/>
          <p:nvPr/>
        </p:nvSpPr>
        <p:spPr>
          <a:xfrm>
            <a:off x="2301954" y="6120289"/>
            <a:ext cx="1589246" cy="198596"/>
          </a:xfrm>
          <a:prstGeom prst="rect">
            <a:avLst/>
          </a:prstGeom>
          <a:noFill/>
          <a:ln/>
        </p:spPr>
        <p:txBody>
          <a:bodyPr wrap="none" lIns="0" tIns="0" rIns="0" bIns="0" rtlCol="0" anchor="t"/>
          <a:lstStyle/>
          <a:p>
            <a:pPr marL="0" indent="0" algn="l">
              <a:lnSpc>
                <a:spcPts val="1550"/>
              </a:lnSpc>
              <a:buNone/>
            </a:pPr>
            <a:r>
              <a:rPr lang="en-US" sz="1250" b="1" dirty="0">
                <a:solidFill>
                  <a:srgbClr val="000000"/>
                </a:solidFill>
                <a:latin typeface="Inter Bold" pitchFamily="34" charset="0"/>
                <a:ea typeface="Inter Bold" pitchFamily="34" charset="-122"/>
                <a:cs typeface="Inter Bold" pitchFamily="34" charset="-120"/>
              </a:rPr>
              <a:t>Tier 1 — Scheduler</a:t>
            </a:r>
            <a:endParaRPr lang="en-US" sz="1250" dirty="0"/>
          </a:p>
        </p:txBody>
      </p:sp>
      <p:sp>
        <p:nvSpPr>
          <p:cNvPr id="12" name="Text 9"/>
          <p:cNvSpPr/>
          <p:nvPr/>
        </p:nvSpPr>
        <p:spPr>
          <a:xfrm>
            <a:off x="2301954" y="6400324"/>
            <a:ext cx="3135035" cy="1419820"/>
          </a:xfrm>
          <a:prstGeom prst="rect">
            <a:avLst/>
          </a:prstGeom>
          <a:noFill/>
          <a:ln/>
        </p:spPr>
        <p:txBody>
          <a:bodyPr wrap="square" lIns="0" tIns="0" rIns="0" bIns="0" rtlCol="0" anchor="t"/>
          <a:lstStyle/>
          <a:p>
            <a:pPr marL="342900" indent="-342900" algn="l">
              <a:lnSpc>
                <a:spcPts val="1300"/>
              </a:lnSpc>
              <a:buSzPct val="100000"/>
              <a:buChar char="•"/>
            </a:pPr>
            <a:r>
              <a:rPr lang="en-US" sz="1000" dirty="0">
                <a:solidFill>
                  <a:srgbClr val="272525"/>
                </a:solidFill>
                <a:latin typeface="Inter" pitchFamily="34" charset="0"/>
                <a:ea typeface="Inter" pitchFamily="34" charset="-122"/>
                <a:cs typeface="Inter" pitchFamily="34" charset="-120"/>
              </a:rPr>
              <a:t>Central coordinator for task submission and distribution</a:t>
            </a:r>
            <a:endParaRPr lang="en-US" sz="1000" dirty="0"/>
          </a:p>
          <a:p>
            <a:pPr marL="342900" indent="-342900" algn="l">
              <a:lnSpc>
                <a:spcPts val="1300"/>
              </a:lnSpc>
              <a:buSzPct val="100000"/>
              <a:buChar char="•"/>
            </a:pPr>
            <a:r>
              <a:rPr lang="en-US" sz="1000" dirty="0">
                <a:solidFill>
                  <a:srgbClr val="272525"/>
                </a:solidFill>
                <a:latin typeface="Inter" pitchFamily="34" charset="0"/>
                <a:ea typeface="Inter" pitchFamily="34" charset="-122"/>
                <a:cs typeface="Inter" pitchFamily="34" charset="-120"/>
              </a:rPr>
              <a:t>Monitors real-time metrics: queue sizes, steal rates, creation rates</a:t>
            </a:r>
            <a:endParaRPr lang="en-US" sz="1000" dirty="0"/>
          </a:p>
          <a:p>
            <a:pPr marL="342900" indent="-342900" algn="l">
              <a:lnSpc>
                <a:spcPts val="1300"/>
              </a:lnSpc>
              <a:buSzPct val="100000"/>
              <a:buChar char="•"/>
            </a:pPr>
            <a:r>
              <a:rPr lang="en-US" sz="1000" dirty="0">
                <a:solidFill>
                  <a:srgbClr val="272525"/>
                </a:solidFill>
                <a:latin typeface="Inter" pitchFamily="34" charset="0"/>
                <a:ea typeface="Inter" pitchFamily="34" charset="-122"/>
                <a:cs typeface="Inter" pitchFamily="34" charset="-120"/>
              </a:rPr>
              <a:t>Triggers policy switch between Work-First and Help-First modes</a:t>
            </a:r>
            <a:endParaRPr lang="en-US" sz="1000" dirty="0"/>
          </a:p>
          <a:p>
            <a:pPr marL="342900" indent="-342900" algn="l">
              <a:lnSpc>
                <a:spcPts val="1300"/>
              </a:lnSpc>
              <a:buSzPct val="100000"/>
              <a:buChar char="•"/>
            </a:pPr>
            <a:r>
              <a:rPr lang="en-US" sz="1000" dirty="0">
                <a:solidFill>
                  <a:srgbClr val="272525"/>
                </a:solidFill>
                <a:latin typeface="Inter" pitchFamily="34" charset="0"/>
                <a:ea typeface="Inter" pitchFamily="34" charset="-122"/>
                <a:cs typeface="Inter" pitchFamily="34" charset="-120"/>
              </a:rPr>
              <a:t>Ensures graceful shutdown and result aggregation</a:t>
            </a:r>
            <a:endParaRPr lang="en-US" sz="1000" dirty="0"/>
          </a:p>
        </p:txBody>
      </p:sp>
      <p:sp>
        <p:nvSpPr>
          <p:cNvPr id="13" name="Text 10"/>
          <p:cNvSpPr/>
          <p:nvPr/>
        </p:nvSpPr>
        <p:spPr>
          <a:xfrm>
            <a:off x="5754648" y="6120289"/>
            <a:ext cx="1589246" cy="198596"/>
          </a:xfrm>
          <a:prstGeom prst="rect">
            <a:avLst/>
          </a:prstGeom>
          <a:noFill/>
          <a:ln/>
        </p:spPr>
        <p:txBody>
          <a:bodyPr wrap="none" lIns="0" tIns="0" rIns="0" bIns="0" rtlCol="0" anchor="t"/>
          <a:lstStyle/>
          <a:p>
            <a:pPr marL="0" indent="0" algn="l">
              <a:lnSpc>
                <a:spcPts val="1550"/>
              </a:lnSpc>
              <a:buNone/>
            </a:pPr>
            <a:r>
              <a:rPr lang="en-US" sz="1250" b="1" dirty="0">
                <a:solidFill>
                  <a:srgbClr val="000000"/>
                </a:solidFill>
                <a:latin typeface="Inter Bold" pitchFamily="34" charset="0"/>
                <a:ea typeface="Inter Bold" pitchFamily="34" charset="-122"/>
                <a:cs typeface="Inter Bold" pitchFamily="34" charset="-120"/>
              </a:rPr>
              <a:t>Tier 2 — Workers</a:t>
            </a:r>
            <a:endParaRPr lang="en-US" sz="1250" dirty="0"/>
          </a:p>
        </p:txBody>
      </p:sp>
      <p:sp>
        <p:nvSpPr>
          <p:cNvPr id="14" name="Text 11"/>
          <p:cNvSpPr/>
          <p:nvPr/>
        </p:nvSpPr>
        <p:spPr>
          <a:xfrm>
            <a:off x="5754648" y="6400324"/>
            <a:ext cx="3135035" cy="1427440"/>
          </a:xfrm>
          <a:prstGeom prst="rect">
            <a:avLst/>
          </a:prstGeom>
          <a:noFill/>
          <a:ln/>
        </p:spPr>
        <p:txBody>
          <a:bodyPr wrap="square" lIns="0" tIns="0" rIns="0" bIns="0" rtlCol="0" anchor="t"/>
          <a:lstStyle/>
          <a:p>
            <a:pPr marL="342900" indent="-342900" algn="l">
              <a:lnSpc>
                <a:spcPts val="1300"/>
              </a:lnSpc>
              <a:buSzPct val="100000"/>
              <a:buChar char="•"/>
            </a:pPr>
            <a:r>
              <a:rPr lang="en-US" sz="1000" dirty="0">
                <a:solidFill>
                  <a:srgbClr val="272525"/>
                </a:solidFill>
                <a:latin typeface="Inter" pitchFamily="34" charset="0"/>
                <a:ea typeface="Inter" pitchFamily="34" charset="-122"/>
                <a:cs typeface="Inter" pitchFamily="34" charset="-120"/>
              </a:rPr>
              <a:t>Each worker maps to one </a:t>
            </a:r>
            <a:r>
              <a:rPr lang="en-US" sz="1000" dirty="0">
                <a:solidFill>
                  <a:srgbClr val="272525"/>
                </a:solidFill>
                <a:highlight>
                  <a:srgbClr val="F2F2F2"/>
                </a:highlight>
                <a:latin typeface="Consolas" pitchFamily="34" charset="0"/>
                <a:ea typeface="Consolas" pitchFamily="34" charset="-122"/>
                <a:cs typeface="Consolas" pitchFamily="34" charset="-120"/>
              </a:rPr>
              <a:t>std::thread</a:t>
            </a:r>
            <a:r>
              <a:rPr lang="en-US" sz="1000" dirty="0">
                <a:solidFill>
                  <a:srgbClr val="272525"/>
                </a:solidFill>
                <a:latin typeface="Inter" pitchFamily="34" charset="0"/>
                <a:ea typeface="Inter" pitchFamily="34" charset="-122"/>
                <a:cs typeface="Inter" pitchFamily="34" charset="-120"/>
              </a:rPr>
              <a:t> with a private deque</a:t>
            </a:r>
            <a:endParaRPr lang="en-US" sz="1000" dirty="0"/>
          </a:p>
          <a:p>
            <a:pPr marL="342900" indent="-342900" algn="l">
              <a:lnSpc>
                <a:spcPts val="1300"/>
              </a:lnSpc>
              <a:buSzPct val="100000"/>
              <a:buChar char="•"/>
            </a:pPr>
            <a:r>
              <a:rPr lang="en-US" sz="1000" dirty="0">
                <a:solidFill>
                  <a:srgbClr val="272525"/>
                </a:solidFill>
                <a:latin typeface="Inter" pitchFamily="34" charset="0"/>
                <a:ea typeface="Inter" pitchFamily="34" charset="-122"/>
                <a:cs typeface="Inter" pitchFamily="34" charset="-120"/>
              </a:rPr>
              <a:t>Push/pop from back (owner); steal from front (thief) — minimizes contention</a:t>
            </a:r>
            <a:endParaRPr lang="en-US" sz="1000" dirty="0"/>
          </a:p>
          <a:p>
            <a:pPr marL="342900" indent="-342900" algn="l">
              <a:lnSpc>
                <a:spcPts val="1300"/>
              </a:lnSpc>
              <a:buSzPct val="100000"/>
              <a:buChar char="•"/>
            </a:pPr>
            <a:r>
              <a:rPr lang="en-US" sz="1000" dirty="0">
                <a:solidFill>
                  <a:srgbClr val="272525"/>
                </a:solidFill>
                <a:latin typeface="Inter" pitchFamily="34" charset="0"/>
                <a:ea typeface="Inter" pitchFamily="34" charset="-122"/>
                <a:cs typeface="Inter" pitchFamily="34" charset="-120"/>
              </a:rPr>
              <a:t>Grouped into locality domains for NUMA-aware victim selection</a:t>
            </a:r>
            <a:endParaRPr lang="en-US" sz="1000" dirty="0"/>
          </a:p>
          <a:p>
            <a:pPr marL="342900" indent="-342900" algn="l">
              <a:lnSpc>
                <a:spcPts val="1300"/>
              </a:lnSpc>
              <a:buSzPct val="100000"/>
              <a:buChar char="•"/>
            </a:pPr>
            <a:r>
              <a:rPr lang="en-US" sz="1000" dirty="0">
                <a:solidFill>
                  <a:srgbClr val="272525"/>
                </a:solidFill>
                <a:latin typeface="Inter" pitchFamily="34" charset="0"/>
                <a:ea typeface="Inter" pitchFamily="34" charset="-122"/>
                <a:cs typeface="Inter" pitchFamily="34" charset="-120"/>
              </a:rPr>
              <a:t>Reports idle time, steal count, and task completion to Scheduler</a:t>
            </a:r>
            <a:endParaRPr lang="en-US" sz="1000" dirty="0"/>
          </a:p>
        </p:txBody>
      </p:sp>
      <p:sp>
        <p:nvSpPr>
          <p:cNvPr id="15" name="Text 12"/>
          <p:cNvSpPr/>
          <p:nvPr/>
        </p:nvSpPr>
        <p:spPr>
          <a:xfrm>
            <a:off x="9207341" y="6120289"/>
            <a:ext cx="1589246" cy="198596"/>
          </a:xfrm>
          <a:prstGeom prst="rect">
            <a:avLst/>
          </a:prstGeom>
          <a:noFill/>
          <a:ln/>
        </p:spPr>
        <p:txBody>
          <a:bodyPr wrap="none" lIns="0" tIns="0" rIns="0" bIns="0" rtlCol="0" anchor="t"/>
          <a:lstStyle/>
          <a:p>
            <a:pPr marL="0" indent="0" algn="l">
              <a:lnSpc>
                <a:spcPts val="1550"/>
              </a:lnSpc>
              <a:buNone/>
            </a:pPr>
            <a:r>
              <a:rPr lang="en-US" sz="1250" b="1" dirty="0">
                <a:solidFill>
                  <a:srgbClr val="000000"/>
                </a:solidFill>
                <a:latin typeface="Inter Bold" pitchFamily="34" charset="0"/>
                <a:ea typeface="Inter Bold" pitchFamily="34" charset="-122"/>
                <a:cs typeface="Inter Bold" pitchFamily="34" charset="-120"/>
              </a:rPr>
              <a:t>Tier 3 — Tasks</a:t>
            </a:r>
            <a:endParaRPr lang="en-US" sz="1250" dirty="0"/>
          </a:p>
        </p:txBody>
      </p:sp>
      <p:sp>
        <p:nvSpPr>
          <p:cNvPr id="16" name="Text 13"/>
          <p:cNvSpPr/>
          <p:nvPr/>
        </p:nvSpPr>
        <p:spPr>
          <a:xfrm>
            <a:off x="9207341" y="6400324"/>
            <a:ext cx="3135035" cy="1419820"/>
          </a:xfrm>
          <a:prstGeom prst="rect">
            <a:avLst/>
          </a:prstGeom>
          <a:noFill/>
          <a:ln/>
        </p:spPr>
        <p:txBody>
          <a:bodyPr wrap="square" lIns="0" tIns="0" rIns="0" bIns="0" rtlCol="0" anchor="t"/>
          <a:lstStyle/>
          <a:p>
            <a:pPr marL="342900" indent="-342900" algn="l">
              <a:lnSpc>
                <a:spcPts val="1300"/>
              </a:lnSpc>
              <a:buSzPct val="100000"/>
              <a:buChar char="•"/>
            </a:pPr>
            <a:r>
              <a:rPr lang="en-US" sz="1000" dirty="0">
                <a:solidFill>
                  <a:srgbClr val="272525"/>
                </a:solidFill>
                <a:latin typeface="Inter" pitchFamily="34" charset="0"/>
                <a:ea typeface="Inter" pitchFamily="34" charset="-122"/>
                <a:cs typeface="Inter" pitchFamily="34" charset="-120"/>
              </a:rPr>
              <a:t>Self-contained unit of computation wrapped in a callable object</a:t>
            </a:r>
            <a:endParaRPr lang="en-US" sz="1000" dirty="0"/>
          </a:p>
          <a:p>
            <a:pPr marL="342900" indent="-342900" algn="l">
              <a:lnSpc>
                <a:spcPts val="1300"/>
              </a:lnSpc>
              <a:buSzPct val="100000"/>
              <a:buChar char="•"/>
            </a:pPr>
            <a:r>
              <a:rPr lang="en-US" sz="1000" dirty="0">
                <a:solidFill>
                  <a:srgbClr val="272525"/>
                </a:solidFill>
                <a:latin typeface="Inter" pitchFamily="34" charset="0"/>
                <a:ea typeface="Inter" pitchFamily="34" charset="-122"/>
                <a:cs typeface="Inter" pitchFamily="34" charset="-120"/>
              </a:rPr>
              <a:t>Carries metadata: estimated cost, recursion depth, task ID</a:t>
            </a:r>
            <a:endParaRPr lang="en-US" sz="1000" dirty="0"/>
          </a:p>
          <a:p>
            <a:pPr marL="342900" indent="-342900" algn="l">
              <a:lnSpc>
                <a:spcPts val="1300"/>
              </a:lnSpc>
              <a:buSzPct val="100000"/>
              <a:buChar char="•"/>
            </a:pPr>
            <a:r>
              <a:rPr lang="en-US" sz="1000" dirty="0">
                <a:solidFill>
                  <a:srgbClr val="272525"/>
                </a:solidFill>
                <a:latin typeface="Inter" pitchFamily="34" charset="0"/>
                <a:ea typeface="Inter" pitchFamily="34" charset="-122"/>
                <a:cs typeface="Inter" pitchFamily="34" charset="-120"/>
              </a:rPr>
              <a:t>Cost field used by gating logic to approve or reject steal/share</a:t>
            </a:r>
            <a:endParaRPr lang="en-US" sz="1000" dirty="0"/>
          </a:p>
          <a:p>
            <a:pPr marL="342900" indent="-342900" algn="l">
              <a:lnSpc>
                <a:spcPts val="1300"/>
              </a:lnSpc>
              <a:buSzPct val="100000"/>
              <a:buChar char="•"/>
            </a:pPr>
            <a:r>
              <a:rPr lang="en-US" sz="1000" dirty="0">
                <a:solidFill>
                  <a:srgbClr val="272525"/>
                </a:solidFill>
                <a:latin typeface="Inter" pitchFamily="34" charset="0"/>
                <a:ea typeface="Inter" pitchFamily="34" charset="-122"/>
                <a:cs typeface="Inter" pitchFamily="34" charset="-120"/>
              </a:rPr>
              <a:t>Supports recursive sub-task spawning during execution</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1812846" y="469821"/>
            <a:ext cx="3488769" cy="436007"/>
          </a:xfrm>
          <a:prstGeom prst="rect">
            <a:avLst/>
          </a:prstGeom>
          <a:noFill/>
          <a:ln/>
        </p:spPr>
        <p:txBody>
          <a:bodyPr wrap="none" lIns="0" tIns="0" rIns="0" bIns="0" rtlCol="0" anchor="t"/>
          <a:lstStyle/>
          <a:p>
            <a:pPr marL="0" indent="0" algn="l">
              <a:lnSpc>
                <a:spcPts val="3400"/>
              </a:lnSpc>
              <a:buNone/>
            </a:pPr>
            <a:r>
              <a:rPr lang="en-US" sz="2700" b="1" dirty="0">
                <a:solidFill>
                  <a:srgbClr val="000000"/>
                </a:solidFill>
                <a:latin typeface="Inter Bold" pitchFamily="34" charset="0"/>
                <a:ea typeface="Inter Bold" pitchFamily="34" charset="-122"/>
                <a:cs typeface="Inter Bold" pitchFamily="34" charset="-120"/>
              </a:rPr>
              <a:t>Algorithm Details</a:t>
            </a:r>
            <a:endParaRPr lang="en-US" sz="2700" dirty="0"/>
          </a:p>
        </p:txBody>
      </p:sp>
      <p:sp>
        <p:nvSpPr>
          <p:cNvPr id="3" name="Text 1"/>
          <p:cNvSpPr/>
          <p:nvPr/>
        </p:nvSpPr>
        <p:spPr>
          <a:xfrm>
            <a:off x="1812846" y="1151096"/>
            <a:ext cx="2154793" cy="218003"/>
          </a:xfrm>
          <a:prstGeom prst="rect">
            <a:avLst/>
          </a:prstGeom>
          <a:noFill/>
          <a:ln/>
        </p:spPr>
        <p:txBody>
          <a:bodyPr wrap="none" lIns="0" tIns="0" rIns="0" bIns="0" rtlCol="0" anchor="t"/>
          <a:lstStyle/>
          <a:p>
            <a:pPr marL="0" indent="0" algn="l">
              <a:lnSpc>
                <a:spcPts val="1700"/>
              </a:lnSpc>
              <a:buNone/>
            </a:pPr>
            <a:r>
              <a:rPr lang="en-US" sz="1350" b="1" dirty="0">
                <a:solidFill>
                  <a:srgbClr val="000000"/>
                </a:solidFill>
                <a:latin typeface="Inter Bold" pitchFamily="34" charset="0"/>
                <a:ea typeface="Inter Bold" pitchFamily="34" charset="-122"/>
                <a:cs typeface="Inter Bold" pitchFamily="34" charset="-120"/>
              </a:rPr>
              <a:t>Dual Scheduling Strategy</a:t>
            </a:r>
            <a:endParaRPr lang="en-US" sz="1350" dirty="0"/>
          </a:p>
        </p:txBody>
      </p:sp>
      <p:sp>
        <p:nvSpPr>
          <p:cNvPr id="4" name="Shape 2"/>
          <p:cNvSpPr/>
          <p:nvPr/>
        </p:nvSpPr>
        <p:spPr>
          <a:xfrm>
            <a:off x="1812846" y="1479471"/>
            <a:ext cx="5332095" cy="2320647"/>
          </a:xfrm>
          <a:prstGeom prst="roundRect">
            <a:avLst>
              <a:gd name="adj" fmla="val 2526"/>
            </a:avLst>
          </a:prstGeom>
          <a:solidFill>
            <a:srgbClr val="DADBF1"/>
          </a:solidFill>
          <a:ln w="7620">
            <a:solidFill>
              <a:srgbClr val="C0C1D7"/>
            </a:solidFill>
            <a:prstDash val="solid"/>
          </a:ln>
        </p:spPr>
      </p:sp>
      <p:sp>
        <p:nvSpPr>
          <p:cNvPr id="5" name="Shape 3"/>
          <p:cNvSpPr/>
          <p:nvPr/>
        </p:nvSpPr>
        <p:spPr>
          <a:xfrm>
            <a:off x="1820466" y="1487091"/>
            <a:ext cx="2658428" cy="2305407"/>
          </a:xfrm>
          <a:prstGeom prst="roundRect">
            <a:avLst>
              <a:gd name="adj" fmla="val 2542"/>
            </a:avLst>
          </a:prstGeom>
          <a:solidFill>
            <a:srgbClr val="DADBF1"/>
          </a:solidFill>
          <a:ln/>
        </p:spPr>
      </p:sp>
      <p:sp>
        <p:nvSpPr>
          <p:cNvPr id="6" name="Text 4"/>
          <p:cNvSpPr/>
          <p:nvPr/>
        </p:nvSpPr>
        <p:spPr>
          <a:xfrm>
            <a:off x="1960007" y="1626632"/>
            <a:ext cx="1744385" cy="218003"/>
          </a:xfrm>
          <a:prstGeom prst="rect">
            <a:avLst/>
          </a:prstGeom>
          <a:noFill/>
          <a:ln/>
        </p:spPr>
        <p:txBody>
          <a:bodyPr wrap="none" lIns="0" tIns="0" rIns="0" bIns="0" rtlCol="0" anchor="t"/>
          <a:lstStyle/>
          <a:p>
            <a:pPr marL="0" indent="0" algn="l">
              <a:lnSpc>
                <a:spcPts val="1700"/>
              </a:lnSpc>
              <a:buNone/>
            </a:pPr>
            <a:r>
              <a:rPr lang="en-US" sz="1350" b="1" dirty="0">
                <a:solidFill>
                  <a:srgbClr val="272525"/>
                </a:solidFill>
                <a:latin typeface="Inter Bold" pitchFamily="34" charset="0"/>
                <a:ea typeface="Inter Bold" pitchFamily="34" charset="-122"/>
                <a:cs typeface="Inter Bold" pitchFamily="34" charset="-120"/>
              </a:rPr>
              <a:t>Work-First Policy</a:t>
            </a:r>
            <a:endParaRPr lang="en-US" sz="1350" dirty="0"/>
          </a:p>
        </p:txBody>
      </p:sp>
      <p:sp>
        <p:nvSpPr>
          <p:cNvPr id="7" name="Text 5"/>
          <p:cNvSpPr/>
          <p:nvPr/>
        </p:nvSpPr>
        <p:spPr>
          <a:xfrm>
            <a:off x="1960007" y="1942743"/>
            <a:ext cx="2379345" cy="1710214"/>
          </a:xfrm>
          <a:prstGeom prst="rect">
            <a:avLst/>
          </a:prstGeom>
          <a:noFill/>
          <a:ln/>
        </p:spPr>
        <p:txBody>
          <a:bodyPr wrap="square" lIns="0" tIns="0" rIns="0" bIns="0" rtlCol="0" anchor="t"/>
          <a:lstStyle/>
          <a:p>
            <a:pPr marL="0" indent="0" algn="l">
              <a:lnSpc>
                <a:spcPts val="1450"/>
              </a:lnSpc>
              <a:buNone/>
            </a:pPr>
            <a:r>
              <a:rPr lang="en-US" sz="1050" dirty="0">
                <a:solidFill>
                  <a:srgbClr val="272525"/>
                </a:solidFill>
                <a:latin typeface="Inter" pitchFamily="34" charset="0"/>
                <a:ea typeface="Inter" pitchFamily="34" charset="-122"/>
                <a:cs typeface="Inter" pitchFamily="34" charset="-120"/>
              </a:rPr>
              <a:t>Worker executes tasks from its own local deque before attempting any steal or share. Minimizes inter-thread communication. Activated when steal rate ≤ creation rate — system is not under heavy imbalance. Reduces unnecessary synchronization in low-contention phases.</a:t>
            </a:r>
            <a:endParaRPr lang="en-US" sz="1050" dirty="0"/>
          </a:p>
        </p:txBody>
      </p:sp>
      <p:sp>
        <p:nvSpPr>
          <p:cNvPr id="8" name="Shape 6"/>
          <p:cNvSpPr/>
          <p:nvPr/>
        </p:nvSpPr>
        <p:spPr>
          <a:xfrm>
            <a:off x="4478893" y="1487091"/>
            <a:ext cx="2658428" cy="2305407"/>
          </a:xfrm>
          <a:prstGeom prst="rect">
            <a:avLst/>
          </a:prstGeom>
          <a:solidFill>
            <a:srgbClr val="DADBF1"/>
          </a:solidFill>
          <a:ln/>
        </p:spPr>
      </p:sp>
      <p:sp>
        <p:nvSpPr>
          <p:cNvPr id="9" name="Shape 7"/>
          <p:cNvSpPr/>
          <p:nvPr/>
        </p:nvSpPr>
        <p:spPr>
          <a:xfrm>
            <a:off x="4478893" y="1487091"/>
            <a:ext cx="15240" cy="2305407"/>
          </a:xfrm>
          <a:prstGeom prst="roundRect">
            <a:avLst>
              <a:gd name="adj" fmla="val 384593"/>
            </a:avLst>
          </a:prstGeom>
          <a:solidFill>
            <a:srgbClr val="C0C1D7"/>
          </a:solidFill>
          <a:ln/>
        </p:spPr>
      </p:sp>
      <p:sp>
        <p:nvSpPr>
          <p:cNvPr id="10" name="Text 8"/>
          <p:cNvSpPr/>
          <p:nvPr/>
        </p:nvSpPr>
        <p:spPr>
          <a:xfrm>
            <a:off x="4618434" y="1626632"/>
            <a:ext cx="1744385" cy="218003"/>
          </a:xfrm>
          <a:prstGeom prst="rect">
            <a:avLst/>
          </a:prstGeom>
          <a:noFill/>
          <a:ln/>
        </p:spPr>
        <p:txBody>
          <a:bodyPr wrap="none" lIns="0" tIns="0" rIns="0" bIns="0" rtlCol="0" anchor="t"/>
          <a:lstStyle/>
          <a:p>
            <a:pPr marL="0" indent="0" algn="l">
              <a:lnSpc>
                <a:spcPts val="1700"/>
              </a:lnSpc>
              <a:buNone/>
            </a:pPr>
            <a:r>
              <a:rPr lang="en-US" sz="1350" b="1" dirty="0">
                <a:solidFill>
                  <a:srgbClr val="272525"/>
                </a:solidFill>
                <a:latin typeface="Inter Bold" pitchFamily="34" charset="0"/>
                <a:ea typeface="Inter Bold" pitchFamily="34" charset="-122"/>
                <a:cs typeface="Inter Bold" pitchFamily="34" charset="-120"/>
              </a:rPr>
              <a:t>Help-First Policy</a:t>
            </a:r>
            <a:endParaRPr lang="en-US" sz="1350" dirty="0"/>
          </a:p>
        </p:txBody>
      </p:sp>
      <p:sp>
        <p:nvSpPr>
          <p:cNvPr id="11" name="Text 9"/>
          <p:cNvSpPr/>
          <p:nvPr/>
        </p:nvSpPr>
        <p:spPr>
          <a:xfrm>
            <a:off x="4618434" y="1942743"/>
            <a:ext cx="2379345" cy="1710214"/>
          </a:xfrm>
          <a:prstGeom prst="rect">
            <a:avLst/>
          </a:prstGeom>
          <a:noFill/>
          <a:ln/>
        </p:spPr>
        <p:txBody>
          <a:bodyPr wrap="square" lIns="0" tIns="0" rIns="0" bIns="0" rtlCol="0" anchor="t"/>
          <a:lstStyle/>
          <a:p>
            <a:pPr marL="0" indent="0" algn="l">
              <a:lnSpc>
                <a:spcPts val="1450"/>
              </a:lnSpc>
              <a:buNone/>
            </a:pPr>
            <a:r>
              <a:rPr lang="en-US" sz="1050" dirty="0">
                <a:solidFill>
                  <a:srgbClr val="272525"/>
                </a:solidFill>
                <a:latin typeface="Inter" pitchFamily="34" charset="0"/>
                <a:ea typeface="Inter" pitchFamily="34" charset="-122"/>
                <a:cs typeface="Inter" pitchFamily="34" charset="-120"/>
              </a:rPr>
              <a:t>Overloaded workers proactively push tasks to underloaded peers rather than waiting for them to steal. Activated when steal rate &gt; creation rate — indicating queue buildup and high imbalance. Bypasses standard queue bottlenecks; directly alleviates hotspot threads.</a:t>
            </a:r>
            <a:endParaRPr lang="en-US" sz="1050" dirty="0"/>
          </a:p>
        </p:txBody>
      </p:sp>
      <p:sp>
        <p:nvSpPr>
          <p:cNvPr id="12" name="Text 10"/>
          <p:cNvSpPr/>
          <p:nvPr/>
        </p:nvSpPr>
        <p:spPr>
          <a:xfrm>
            <a:off x="1812846" y="3910489"/>
            <a:ext cx="2117646" cy="218003"/>
          </a:xfrm>
          <a:prstGeom prst="rect">
            <a:avLst/>
          </a:prstGeom>
          <a:noFill/>
          <a:ln/>
        </p:spPr>
        <p:txBody>
          <a:bodyPr wrap="none" lIns="0" tIns="0" rIns="0" bIns="0" rtlCol="0" anchor="t"/>
          <a:lstStyle/>
          <a:p>
            <a:pPr marL="0" indent="0" algn="l">
              <a:lnSpc>
                <a:spcPts val="1700"/>
              </a:lnSpc>
              <a:buNone/>
            </a:pPr>
            <a:r>
              <a:rPr lang="en-US" sz="1350" b="1" dirty="0">
                <a:solidFill>
                  <a:srgbClr val="000000"/>
                </a:solidFill>
                <a:latin typeface="Inter Bold" pitchFamily="34" charset="0"/>
                <a:ea typeface="Inter Bold" pitchFamily="34" charset="-122"/>
                <a:cs typeface="Inter Bold" pitchFamily="34" charset="-120"/>
              </a:rPr>
              <a:t>Cost-Aware Gating Logic</a:t>
            </a:r>
            <a:endParaRPr lang="en-US" sz="1350" dirty="0"/>
          </a:p>
        </p:txBody>
      </p:sp>
      <p:sp>
        <p:nvSpPr>
          <p:cNvPr id="13" name="Text 11"/>
          <p:cNvSpPr/>
          <p:nvPr/>
        </p:nvSpPr>
        <p:spPr>
          <a:xfrm>
            <a:off x="1812846" y="4226600"/>
            <a:ext cx="5332095" cy="760095"/>
          </a:xfrm>
          <a:prstGeom prst="rect">
            <a:avLst/>
          </a:prstGeom>
          <a:noFill/>
          <a:ln/>
        </p:spPr>
        <p:txBody>
          <a:bodyPr wrap="square" lIns="0" tIns="0" rIns="0" bIns="0" rtlCol="0" anchor="t"/>
          <a:lstStyle/>
          <a:p>
            <a:pPr marL="0" indent="0" algn="l">
              <a:lnSpc>
                <a:spcPts val="1450"/>
              </a:lnSpc>
              <a:buNone/>
            </a:pPr>
            <a:r>
              <a:rPr lang="en-US" sz="1050" dirty="0">
                <a:solidFill>
                  <a:srgbClr val="272525"/>
                </a:solidFill>
                <a:latin typeface="Inter" pitchFamily="34" charset="0"/>
                <a:ea typeface="Inter" pitchFamily="34" charset="-122"/>
                <a:cs typeface="Inter" pitchFamily="34" charset="-120"/>
              </a:rPr>
              <a:t>Before any steal or share operation is executed, the scheduler evaluates the target task's cost field against threshold τ. Only tasks satisfying </a:t>
            </a:r>
            <a:r>
              <a:rPr lang="en-US" sz="1050" dirty="0">
                <a:solidFill>
                  <a:srgbClr val="272525"/>
                </a:solidFill>
                <a:highlight>
                  <a:srgbClr val="F2F2F2"/>
                </a:highlight>
                <a:latin typeface="Consolas" pitchFamily="34" charset="0"/>
                <a:ea typeface="Consolas" pitchFamily="34" charset="-122"/>
                <a:cs typeface="Consolas" pitchFamily="34" charset="-120"/>
              </a:rPr>
              <a:t>task.cost &gt; τ</a:t>
            </a:r>
            <a:r>
              <a:rPr lang="en-US" sz="1050" dirty="0">
                <a:solidFill>
                  <a:srgbClr val="272525"/>
                </a:solidFill>
                <a:latin typeface="Inter" pitchFamily="34" charset="0"/>
                <a:ea typeface="Inter" pitchFamily="34" charset="-122"/>
                <a:cs typeface="Inter" pitchFamily="34" charset="-120"/>
              </a:rPr>
              <a:t> are eligible for migration. This single check prevents the system from drowning in synchronization overhead on tiny sub-problems.</a:t>
            </a:r>
            <a:endParaRPr lang="en-US" sz="1050" dirty="0"/>
          </a:p>
        </p:txBody>
      </p:sp>
      <p:sp>
        <p:nvSpPr>
          <p:cNvPr id="14" name="Text 12"/>
          <p:cNvSpPr/>
          <p:nvPr/>
        </p:nvSpPr>
        <p:spPr>
          <a:xfrm>
            <a:off x="7492841" y="1151096"/>
            <a:ext cx="3041809" cy="218003"/>
          </a:xfrm>
          <a:prstGeom prst="rect">
            <a:avLst/>
          </a:prstGeom>
          <a:noFill/>
          <a:ln/>
        </p:spPr>
        <p:txBody>
          <a:bodyPr wrap="none" lIns="0" tIns="0" rIns="0" bIns="0" rtlCol="0" anchor="t"/>
          <a:lstStyle/>
          <a:p>
            <a:pPr marL="0" indent="0" algn="l">
              <a:lnSpc>
                <a:spcPts val="1700"/>
              </a:lnSpc>
              <a:buNone/>
            </a:pPr>
            <a:r>
              <a:rPr lang="en-US" sz="1350" b="1" dirty="0">
                <a:solidFill>
                  <a:srgbClr val="000000"/>
                </a:solidFill>
                <a:latin typeface="Inter Bold" pitchFamily="34" charset="0"/>
                <a:ea typeface="Inter Bold" pitchFamily="34" charset="-122"/>
                <a:cs typeface="Inter Bold" pitchFamily="34" charset="-120"/>
              </a:rPr>
              <a:t>Pseudocode — Adaptive Work Loop</a:t>
            </a:r>
            <a:endParaRPr lang="en-US" sz="1350" dirty="0"/>
          </a:p>
        </p:txBody>
      </p:sp>
      <p:sp>
        <p:nvSpPr>
          <p:cNvPr id="15" name="Shape 13"/>
          <p:cNvSpPr/>
          <p:nvPr/>
        </p:nvSpPr>
        <p:spPr>
          <a:xfrm>
            <a:off x="7492841" y="1479471"/>
            <a:ext cx="5332095" cy="6169819"/>
          </a:xfrm>
          <a:prstGeom prst="roundRect">
            <a:avLst>
              <a:gd name="adj" fmla="val 1099"/>
            </a:avLst>
          </a:prstGeom>
          <a:solidFill>
            <a:srgbClr val="F2F2F2"/>
          </a:solidFill>
          <a:ln/>
        </p:spPr>
      </p:sp>
      <p:sp>
        <p:nvSpPr>
          <p:cNvPr id="16" name="Shape 14"/>
          <p:cNvSpPr/>
          <p:nvPr/>
        </p:nvSpPr>
        <p:spPr>
          <a:xfrm>
            <a:off x="7485936" y="1479471"/>
            <a:ext cx="5345906" cy="6169819"/>
          </a:xfrm>
          <a:prstGeom prst="roundRect">
            <a:avLst>
              <a:gd name="adj" fmla="val 392"/>
            </a:avLst>
          </a:prstGeom>
          <a:solidFill>
            <a:srgbClr val="F2F2F2"/>
          </a:solidFill>
          <a:ln/>
        </p:spPr>
      </p:sp>
      <p:sp>
        <p:nvSpPr>
          <p:cNvPr id="17" name="Text 15"/>
          <p:cNvSpPr/>
          <p:nvPr/>
        </p:nvSpPr>
        <p:spPr>
          <a:xfrm>
            <a:off x="7660362" y="1619012"/>
            <a:ext cx="4997053" cy="5890736"/>
          </a:xfrm>
          <a:prstGeom prst="rect">
            <a:avLst/>
          </a:prstGeom>
          <a:noFill/>
          <a:ln/>
        </p:spPr>
        <p:txBody>
          <a:bodyPr wrap="square" lIns="0" tIns="0" rIns="0" bIns="0" rtlCol="0" anchor="t"/>
          <a:lstStyle/>
          <a:p>
            <a:pPr marL="0" indent="0" algn="l">
              <a:lnSpc>
                <a:spcPts val="1450"/>
              </a:lnSpc>
              <a:buNone/>
            </a:pPr>
            <a:r>
              <a:rPr lang="en-US" sz="1050" dirty="0">
                <a:solidFill>
                  <a:srgbClr val="272525"/>
                </a:solidFill>
                <a:highlight>
                  <a:srgbClr val="F2F2F2"/>
                </a:highlight>
                <a:latin typeface="Consolas" pitchFamily="34" charset="0"/>
                <a:ea typeface="Consolas" pitchFamily="34" charset="-122"/>
                <a:cs typeface="Consolas" pitchFamily="34" charset="-120"/>
              </a:rPr>
              <a:t>function WorkerLoop(worker_id):
 while scheduler.is_running():
 task = local_deque.pop_back()
 if task is None:
 // Attempt steal or receive share
 victim = select_victim(worker_id)
 candidate = victim.deque.steal_front()
 if candidate.cost &gt; COST_THRESHOLD:
 task = candidate
 else:
 continue // skip: too cheap to steal
 execute(task)
 update_metrics(steals, shares, idle_time)
function select_victim(worker_id):
 // Locality-aware: prefer same NUMA group
 for peer in same_locality_group(worker_id):
 if peer.deque.size() &gt; IMBALANCE_THRESHOLD:
 return peer
 // Fallback to cross-group
 return max_loaded_worker()
function adaptive_policy_switch():
 if steal_rate &gt; creation_rate:
 switch_to_help_first() // push proactively
 else:
 switch_to_work_first() // local priority
</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94611" y="495895"/>
            <a:ext cx="4885611" cy="542687"/>
          </a:xfrm>
          <a:prstGeom prst="rect">
            <a:avLst/>
          </a:prstGeom>
          <a:noFill/>
          <a:ln/>
        </p:spPr>
        <p:txBody>
          <a:bodyPr wrap="none" lIns="0" tIns="0" rIns="0" bIns="0" rtlCol="0" anchor="t"/>
          <a:lstStyle/>
          <a:p>
            <a:pPr marL="0" indent="0" algn="l">
              <a:lnSpc>
                <a:spcPts val="4250"/>
              </a:lnSpc>
              <a:buNone/>
            </a:pPr>
            <a:r>
              <a:rPr lang="en-US" sz="3400" b="1" dirty="0">
                <a:solidFill>
                  <a:srgbClr val="000000"/>
                </a:solidFill>
                <a:latin typeface="Inter Bold" pitchFamily="34" charset="0"/>
                <a:ea typeface="Inter Bold" pitchFamily="34" charset="-122"/>
                <a:cs typeface="Inter Bold" pitchFamily="34" charset="-120"/>
              </a:rPr>
              <a:t>Implementation Details</a:t>
            </a:r>
            <a:endParaRPr lang="en-US" sz="3400" dirty="0"/>
          </a:p>
        </p:txBody>
      </p:sp>
      <p:sp>
        <p:nvSpPr>
          <p:cNvPr id="3" name="Text 1"/>
          <p:cNvSpPr/>
          <p:nvPr/>
        </p:nvSpPr>
        <p:spPr>
          <a:xfrm>
            <a:off x="694611" y="1418392"/>
            <a:ext cx="2170748" cy="271224"/>
          </a:xfrm>
          <a:prstGeom prst="rect">
            <a:avLst/>
          </a:prstGeom>
          <a:noFill/>
          <a:ln/>
        </p:spPr>
        <p:txBody>
          <a:bodyPr wrap="none" lIns="0" tIns="0" rIns="0" bIns="0" rtlCol="0" anchor="t"/>
          <a:lstStyle/>
          <a:p>
            <a:pPr marL="0" indent="0" algn="l">
              <a:lnSpc>
                <a:spcPts val="2100"/>
              </a:lnSpc>
              <a:buNone/>
            </a:pPr>
            <a:r>
              <a:rPr lang="en-US" sz="1700" b="1" dirty="0">
                <a:solidFill>
                  <a:srgbClr val="000000"/>
                </a:solidFill>
                <a:latin typeface="Inter Bold" pitchFamily="34" charset="0"/>
                <a:ea typeface="Inter Bold" pitchFamily="34" charset="-122"/>
                <a:cs typeface="Inter Bold" pitchFamily="34" charset="-120"/>
              </a:rPr>
              <a:t>Technology Stack</a:t>
            </a:r>
            <a:endParaRPr lang="en-US" sz="1700" dirty="0"/>
          </a:p>
        </p:txBody>
      </p:sp>
      <p:pic>
        <p:nvPicPr>
          <p:cNvPr id="4"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94611" y="1890832"/>
            <a:ext cx="260390" cy="260390"/>
          </a:xfrm>
          <a:prstGeom prst="rect">
            <a:avLst/>
          </a:prstGeom>
        </p:spPr>
      </p:pic>
      <p:sp>
        <p:nvSpPr>
          <p:cNvPr id="5" name="Text 2"/>
          <p:cNvSpPr/>
          <p:nvPr/>
        </p:nvSpPr>
        <p:spPr>
          <a:xfrm>
            <a:off x="1106924" y="1898452"/>
            <a:ext cx="2170748" cy="271224"/>
          </a:xfrm>
          <a:prstGeom prst="rect">
            <a:avLst/>
          </a:prstGeom>
          <a:noFill/>
          <a:ln/>
        </p:spPr>
        <p:txBody>
          <a:bodyPr wrap="none" lIns="0" tIns="0" rIns="0" bIns="0" rtlCol="0" anchor="t"/>
          <a:lstStyle/>
          <a:p>
            <a:pPr marL="0" indent="0" algn="l">
              <a:lnSpc>
                <a:spcPts val="2100"/>
              </a:lnSpc>
              <a:buNone/>
            </a:pPr>
            <a:r>
              <a:rPr lang="en-US" sz="1700" b="1" dirty="0">
                <a:solidFill>
                  <a:srgbClr val="272525"/>
                </a:solidFill>
                <a:latin typeface="Inter Bold" pitchFamily="34" charset="0"/>
                <a:ea typeface="Inter Bold" pitchFamily="34" charset="-122"/>
                <a:cs typeface="Inter Bold" pitchFamily="34" charset="-120"/>
              </a:rPr>
              <a:t>C++17 from Scratch</a:t>
            </a:r>
            <a:endParaRPr lang="en-US" sz="1700" dirty="0"/>
          </a:p>
        </p:txBody>
      </p:sp>
      <p:sp>
        <p:nvSpPr>
          <p:cNvPr id="6" name="Text 3"/>
          <p:cNvSpPr/>
          <p:nvPr/>
        </p:nvSpPr>
        <p:spPr>
          <a:xfrm>
            <a:off x="1106924" y="2321600"/>
            <a:ext cx="5996464" cy="1302544"/>
          </a:xfrm>
          <a:prstGeom prst="rect">
            <a:avLst/>
          </a:prstGeom>
          <a:noFill/>
          <a:ln/>
        </p:spPr>
        <p:txBody>
          <a:bodyPr wrap="square" lIns="0" tIns="0" rIns="0" bIns="0" rtlCol="0" anchor="t"/>
          <a:lstStyle/>
          <a:p>
            <a:pPr marL="0" indent="0" algn="l">
              <a:lnSpc>
                <a:spcPts val="2050"/>
              </a:lnSpc>
              <a:buNone/>
            </a:pPr>
            <a:r>
              <a:rPr lang="en-US" sz="1350" dirty="0">
                <a:solidFill>
                  <a:srgbClr val="272525"/>
                </a:solidFill>
                <a:latin typeface="Inter" pitchFamily="34" charset="0"/>
                <a:ea typeface="Inter" pitchFamily="34" charset="-122"/>
                <a:cs typeface="Inter" pitchFamily="34" charset="-120"/>
              </a:rPr>
              <a:t>The entire scheduler — including all thread management, deque operations, and synchronization — is implemented using native C++17 </a:t>
            </a:r>
            <a:r>
              <a:rPr lang="en-US" sz="1350" dirty="0">
                <a:solidFill>
                  <a:srgbClr val="272525"/>
                </a:solidFill>
                <a:highlight>
                  <a:srgbClr val="F2F2F2"/>
                </a:highlight>
                <a:latin typeface="Consolas" pitchFamily="34" charset="0"/>
                <a:ea typeface="Consolas" pitchFamily="34" charset="-122"/>
                <a:cs typeface="Consolas" pitchFamily="34" charset="-120"/>
              </a:rPr>
              <a:t>std::thread</a:t>
            </a:r>
            <a:r>
              <a:rPr lang="en-US" sz="1350" dirty="0">
                <a:solidFill>
                  <a:srgbClr val="272525"/>
                </a:solidFill>
                <a:latin typeface="Inter" pitchFamily="34" charset="0"/>
                <a:ea typeface="Inter" pitchFamily="34" charset="-122"/>
                <a:cs typeface="Inter" pitchFamily="34" charset="-120"/>
              </a:rPr>
              <a:t> and </a:t>
            </a:r>
            <a:r>
              <a:rPr lang="en-US" sz="1350" dirty="0">
                <a:solidFill>
                  <a:srgbClr val="272525"/>
                </a:solidFill>
                <a:highlight>
                  <a:srgbClr val="F2F2F2"/>
                </a:highlight>
                <a:latin typeface="Consolas" pitchFamily="34" charset="0"/>
                <a:ea typeface="Consolas" pitchFamily="34" charset="-122"/>
                <a:cs typeface="Consolas" pitchFamily="34" charset="-120"/>
              </a:rPr>
              <a:t>std::mutex</a:t>
            </a:r>
            <a:r>
              <a:rPr lang="en-US" sz="1350" dirty="0">
                <a:solidFill>
                  <a:srgbClr val="272525"/>
                </a:solidFill>
                <a:latin typeface="Inter" pitchFamily="34" charset="0"/>
                <a:ea typeface="Inter" pitchFamily="34" charset="-122"/>
                <a:cs typeface="Inter" pitchFamily="34" charset="-120"/>
              </a:rPr>
              <a:t>. No external scheduling library (TBB, Cilk, etc.) was used for the core logic, ensuring full control and transparency of scheduling decisions.</a:t>
            </a:r>
            <a:endParaRPr lang="en-US" sz="1350" dirty="0"/>
          </a:p>
        </p:txBody>
      </p:sp>
      <p:pic>
        <p:nvPicPr>
          <p:cNvPr id="7" name="Image 1" descr="preencoded.png"/>
          <p:cNvPicPr>
            <a:picLocks noChangeAspect="1"/>
          </p:cNvPicPr>
          <p:nvPr/>
        </p:nvPicPr>
        <p:blipFill>
          <a:blip r:embed="rId3">
            <a:extLst>
              <a:ext uri="{96DAC541-7B7A-43D3-8B79-37D633B846F1}">
                <asvg:svgBlip xmlns:asvg="http://schemas.microsoft.com/office/drawing/2016/SVG/main" r:embed="rId5"/>
              </a:ext>
            </a:extLst>
          </a:blip>
          <a:stretch>
            <a:fillRect/>
          </a:stretch>
        </p:blipFill>
        <p:spPr>
          <a:xfrm>
            <a:off x="694611" y="3958352"/>
            <a:ext cx="260390" cy="260390"/>
          </a:xfrm>
          <a:prstGeom prst="rect">
            <a:avLst/>
          </a:prstGeom>
        </p:spPr>
      </p:pic>
      <p:sp>
        <p:nvSpPr>
          <p:cNvPr id="8" name="Text 4"/>
          <p:cNvSpPr/>
          <p:nvPr/>
        </p:nvSpPr>
        <p:spPr>
          <a:xfrm>
            <a:off x="1106924" y="3965972"/>
            <a:ext cx="2279690" cy="271224"/>
          </a:xfrm>
          <a:prstGeom prst="rect">
            <a:avLst/>
          </a:prstGeom>
          <a:noFill/>
          <a:ln/>
        </p:spPr>
        <p:txBody>
          <a:bodyPr wrap="none" lIns="0" tIns="0" rIns="0" bIns="0" rtlCol="0" anchor="t"/>
          <a:lstStyle/>
          <a:p>
            <a:pPr marL="0" indent="0" algn="l">
              <a:lnSpc>
                <a:spcPts val="2100"/>
              </a:lnSpc>
              <a:buNone/>
            </a:pPr>
            <a:r>
              <a:rPr lang="en-US" sz="1700" b="1" dirty="0">
                <a:solidFill>
                  <a:srgbClr val="272525"/>
                </a:solidFill>
                <a:latin typeface="Inter Bold" pitchFamily="34" charset="0"/>
                <a:ea typeface="Inter Bold" pitchFamily="34" charset="-122"/>
                <a:cs typeface="Inter Bold" pitchFamily="34" charset="-120"/>
              </a:rPr>
              <a:t>Performance Pipeline</a:t>
            </a:r>
            <a:endParaRPr lang="en-US" sz="1700" dirty="0"/>
          </a:p>
        </p:txBody>
      </p:sp>
      <p:sp>
        <p:nvSpPr>
          <p:cNvPr id="9" name="Text 5"/>
          <p:cNvSpPr/>
          <p:nvPr/>
        </p:nvSpPr>
        <p:spPr>
          <a:xfrm>
            <a:off x="1106924" y="4389120"/>
            <a:ext cx="5996464" cy="1042035"/>
          </a:xfrm>
          <a:prstGeom prst="rect">
            <a:avLst/>
          </a:prstGeom>
          <a:noFill/>
          <a:ln/>
        </p:spPr>
        <p:txBody>
          <a:bodyPr wrap="square" lIns="0" tIns="0" rIns="0" bIns="0" rtlCol="0" anchor="t"/>
          <a:lstStyle/>
          <a:p>
            <a:pPr marL="0" indent="0" algn="l">
              <a:lnSpc>
                <a:spcPts val="2050"/>
              </a:lnSpc>
              <a:buNone/>
            </a:pPr>
            <a:r>
              <a:rPr lang="en-US" sz="1350" dirty="0">
                <a:solidFill>
                  <a:srgbClr val="272525"/>
                </a:solidFill>
                <a:latin typeface="Inter" pitchFamily="34" charset="0"/>
                <a:ea typeface="Inter" pitchFamily="34" charset="-122"/>
                <a:cs typeface="Inter" pitchFamily="34" charset="-120"/>
              </a:rPr>
              <a:t>Performance metrics (execution time, speedup, efficiency, steal count, share count) are recorded at runtime and exported to a structured CSV file. Python matplotlib scripts dynamically parse this output to generate comparative graphs for all modes and thread counts.</a:t>
            </a:r>
            <a:endParaRPr lang="en-US" sz="1350" dirty="0"/>
          </a:p>
        </p:txBody>
      </p:sp>
      <p:pic>
        <p:nvPicPr>
          <p:cNvPr id="10" name="Image 2" descr="preencoded.png"/>
          <p:cNvPicPr>
            <a:picLocks noChangeAspect="1"/>
          </p:cNvPicPr>
          <p:nvPr/>
        </p:nvPicPr>
        <p:blipFill>
          <a:blip r:embed="rId3">
            <a:extLst>
              <a:ext uri="{96DAC541-7B7A-43D3-8B79-37D633B846F1}">
                <asvg:svgBlip xmlns:asvg="http://schemas.microsoft.com/office/drawing/2016/SVG/main" r:embed="rId6"/>
              </a:ext>
            </a:extLst>
          </a:blip>
          <a:stretch>
            <a:fillRect/>
          </a:stretch>
        </p:blipFill>
        <p:spPr>
          <a:xfrm>
            <a:off x="694611" y="5765363"/>
            <a:ext cx="260390" cy="260390"/>
          </a:xfrm>
          <a:prstGeom prst="rect">
            <a:avLst/>
          </a:prstGeom>
        </p:spPr>
      </p:pic>
      <p:sp>
        <p:nvSpPr>
          <p:cNvPr id="11" name="Text 6"/>
          <p:cNvSpPr/>
          <p:nvPr/>
        </p:nvSpPr>
        <p:spPr>
          <a:xfrm>
            <a:off x="1106924" y="5772983"/>
            <a:ext cx="2448163" cy="271224"/>
          </a:xfrm>
          <a:prstGeom prst="rect">
            <a:avLst/>
          </a:prstGeom>
          <a:noFill/>
          <a:ln/>
        </p:spPr>
        <p:txBody>
          <a:bodyPr wrap="none" lIns="0" tIns="0" rIns="0" bIns="0" rtlCol="0" anchor="t"/>
          <a:lstStyle/>
          <a:p>
            <a:pPr marL="0" indent="0" algn="l">
              <a:lnSpc>
                <a:spcPts val="2100"/>
              </a:lnSpc>
              <a:buNone/>
            </a:pPr>
            <a:r>
              <a:rPr lang="en-US" sz="1700" b="1" dirty="0">
                <a:solidFill>
                  <a:srgbClr val="272525"/>
                </a:solidFill>
                <a:latin typeface="Inter Bold" pitchFamily="34" charset="0"/>
                <a:ea typeface="Inter Bold" pitchFamily="34" charset="-122"/>
                <a:cs typeface="Inter Bold" pitchFamily="34" charset="-120"/>
              </a:rPr>
              <a:t>Synchronization Model</a:t>
            </a:r>
            <a:endParaRPr lang="en-US" sz="1700" dirty="0"/>
          </a:p>
        </p:txBody>
      </p:sp>
      <p:sp>
        <p:nvSpPr>
          <p:cNvPr id="12" name="Text 7"/>
          <p:cNvSpPr/>
          <p:nvPr/>
        </p:nvSpPr>
        <p:spPr>
          <a:xfrm>
            <a:off x="1106924" y="6196132"/>
            <a:ext cx="5996464" cy="1042035"/>
          </a:xfrm>
          <a:prstGeom prst="rect">
            <a:avLst/>
          </a:prstGeom>
          <a:noFill/>
          <a:ln/>
        </p:spPr>
        <p:txBody>
          <a:bodyPr wrap="square" lIns="0" tIns="0" rIns="0" bIns="0" rtlCol="0" anchor="t"/>
          <a:lstStyle/>
          <a:p>
            <a:pPr marL="0" indent="0" algn="l">
              <a:lnSpc>
                <a:spcPts val="2050"/>
              </a:lnSpc>
              <a:buNone/>
            </a:pPr>
            <a:r>
              <a:rPr lang="en-US" sz="1350" dirty="0">
                <a:solidFill>
                  <a:srgbClr val="272525"/>
                </a:solidFill>
                <a:latin typeface="Inter" pitchFamily="34" charset="0"/>
                <a:ea typeface="Inter" pitchFamily="34" charset="-122"/>
                <a:cs typeface="Inter" pitchFamily="34" charset="-120"/>
              </a:rPr>
              <a:t>Each worker's deque is protected by a </a:t>
            </a:r>
            <a:r>
              <a:rPr lang="en-US" sz="1350" dirty="0">
                <a:solidFill>
                  <a:srgbClr val="272525"/>
                </a:solidFill>
                <a:highlight>
                  <a:srgbClr val="F2F2F2"/>
                </a:highlight>
                <a:latin typeface="Consolas" pitchFamily="34" charset="0"/>
                <a:ea typeface="Consolas" pitchFamily="34" charset="-122"/>
                <a:cs typeface="Consolas" pitchFamily="34" charset="-120"/>
              </a:rPr>
              <a:t>std::mutex</a:t>
            </a:r>
            <a:r>
              <a:rPr lang="en-US" sz="1350" dirty="0">
                <a:solidFill>
                  <a:srgbClr val="272525"/>
                </a:solidFill>
                <a:latin typeface="Inter" pitchFamily="34" charset="0"/>
                <a:ea typeface="Inter" pitchFamily="34" charset="-122"/>
                <a:cs typeface="Inter" pitchFamily="34" charset="-120"/>
              </a:rPr>
              <a:t>. Lock acquisition is strictly scoped (RAII pattern) to minimize critical section duration. Cost-aware gating further reduces contention by rejecting cheap steal candidates before the lock is even fully exercised.</a:t>
            </a:r>
            <a:endParaRPr lang="en-US" sz="1350" dirty="0"/>
          </a:p>
        </p:txBody>
      </p:sp>
      <p:sp>
        <p:nvSpPr>
          <p:cNvPr id="13" name="Text 8"/>
          <p:cNvSpPr/>
          <p:nvPr/>
        </p:nvSpPr>
        <p:spPr>
          <a:xfrm>
            <a:off x="7534632" y="1418392"/>
            <a:ext cx="3079194" cy="271224"/>
          </a:xfrm>
          <a:prstGeom prst="rect">
            <a:avLst/>
          </a:prstGeom>
          <a:noFill/>
          <a:ln/>
        </p:spPr>
        <p:txBody>
          <a:bodyPr wrap="none" lIns="0" tIns="0" rIns="0" bIns="0" rtlCol="0" anchor="t"/>
          <a:lstStyle/>
          <a:p>
            <a:pPr marL="0" indent="0" algn="l">
              <a:lnSpc>
                <a:spcPts val="2100"/>
              </a:lnSpc>
              <a:buNone/>
            </a:pPr>
            <a:r>
              <a:rPr lang="en-US" sz="1700" b="1" dirty="0">
                <a:solidFill>
                  <a:srgbClr val="000000"/>
                </a:solidFill>
                <a:latin typeface="Inter Bold" pitchFamily="34" charset="0"/>
                <a:ea typeface="Inter Bold" pitchFamily="34" charset="-122"/>
                <a:cs typeface="Inter Bold" pitchFamily="34" charset="-120"/>
              </a:rPr>
              <a:t>Three Benchmark Workloads</a:t>
            </a:r>
            <a:endParaRPr lang="en-US" sz="1700" dirty="0"/>
          </a:p>
        </p:txBody>
      </p:sp>
      <p:sp>
        <p:nvSpPr>
          <p:cNvPr id="14" name="Shape 9"/>
          <p:cNvSpPr/>
          <p:nvPr/>
        </p:nvSpPr>
        <p:spPr>
          <a:xfrm>
            <a:off x="7534632" y="1860471"/>
            <a:ext cx="3128367" cy="3431857"/>
          </a:xfrm>
          <a:prstGeom prst="roundRect">
            <a:avLst>
              <a:gd name="adj" fmla="val 2332"/>
            </a:avLst>
          </a:prstGeom>
          <a:solidFill>
            <a:srgbClr val="FFFFFF"/>
          </a:solidFill>
          <a:ln w="22860">
            <a:solidFill>
              <a:srgbClr val="C0C1D7"/>
            </a:solidFill>
            <a:prstDash val="solid"/>
          </a:ln>
        </p:spPr>
      </p:sp>
      <p:sp>
        <p:nvSpPr>
          <p:cNvPr id="15" name="Text 10"/>
          <p:cNvSpPr/>
          <p:nvPr/>
        </p:nvSpPr>
        <p:spPr>
          <a:xfrm>
            <a:off x="7731085" y="2056924"/>
            <a:ext cx="2735461" cy="542449"/>
          </a:xfrm>
          <a:prstGeom prst="rect">
            <a:avLst/>
          </a:prstGeom>
          <a:noFill/>
          <a:ln/>
        </p:spPr>
        <p:txBody>
          <a:bodyPr wrap="square" lIns="0" tIns="0" rIns="0" bIns="0" rtlCol="0" anchor="t"/>
          <a:lstStyle/>
          <a:p>
            <a:pPr marL="0" indent="0" algn="l">
              <a:lnSpc>
                <a:spcPts val="2100"/>
              </a:lnSpc>
              <a:buNone/>
            </a:pPr>
            <a:r>
              <a:rPr lang="en-US" sz="1700" b="1" dirty="0">
                <a:solidFill>
                  <a:srgbClr val="272525"/>
                </a:solidFill>
                <a:latin typeface="Inter Bold" pitchFamily="34" charset="0"/>
                <a:ea typeface="Inter Bold" pitchFamily="34" charset="-122"/>
                <a:cs typeface="Inter Bold" pitchFamily="34" charset="-120"/>
              </a:rPr>
              <a:t>Recursive Fibonacci — Irregular</a:t>
            </a:r>
            <a:endParaRPr lang="en-US" sz="1700" dirty="0"/>
          </a:p>
        </p:txBody>
      </p:sp>
      <p:sp>
        <p:nvSpPr>
          <p:cNvPr id="16" name="Text 11"/>
          <p:cNvSpPr/>
          <p:nvPr/>
        </p:nvSpPr>
        <p:spPr>
          <a:xfrm>
            <a:off x="7731085" y="2751296"/>
            <a:ext cx="2735461" cy="2344579"/>
          </a:xfrm>
          <a:prstGeom prst="rect">
            <a:avLst/>
          </a:prstGeom>
          <a:noFill/>
          <a:ln/>
        </p:spPr>
        <p:txBody>
          <a:bodyPr wrap="square" lIns="0" tIns="0" rIns="0" bIns="0" rtlCol="0" anchor="t"/>
          <a:lstStyle/>
          <a:p>
            <a:pPr marL="0" indent="0" algn="l">
              <a:lnSpc>
                <a:spcPts val="2050"/>
              </a:lnSpc>
              <a:buNone/>
            </a:pPr>
            <a:r>
              <a:rPr lang="en-US" sz="1350" dirty="0">
                <a:solidFill>
                  <a:srgbClr val="272525"/>
                </a:solidFill>
                <a:latin typeface="Inter" pitchFamily="34" charset="0"/>
                <a:ea typeface="Inter" pitchFamily="34" charset="-122"/>
                <a:cs typeface="Inter" pitchFamily="34" charset="-120"/>
              </a:rPr>
              <a:t>Highly dynamic, recursive task generation with exponentially variable sub-problem sizes. OpenMP uses </a:t>
            </a:r>
            <a:r>
              <a:rPr lang="en-US" sz="1350" dirty="0">
                <a:solidFill>
                  <a:srgbClr val="272525"/>
                </a:solidFill>
                <a:highlight>
                  <a:srgbClr val="F2F2F2"/>
                </a:highlight>
                <a:latin typeface="Consolas" pitchFamily="34" charset="0"/>
                <a:ea typeface="Consolas" pitchFamily="34" charset="-122"/>
                <a:cs typeface="Consolas" pitchFamily="34" charset="-120"/>
              </a:rPr>
              <a:t>#pragma omp task</a:t>
            </a:r>
            <a:r>
              <a:rPr lang="en-US" sz="1350" dirty="0">
                <a:solidFill>
                  <a:srgbClr val="272525"/>
                </a:solidFill>
                <a:latin typeface="Inter" pitchFamily="34" charset="0"/>
                <a:ea typeface="Inter" pitchFamily="34" charset="-122"/>
                <a:cs typeface="Inter" pitchFamily="34" charset="-120"/>
              </a:rPr>
              <a:t>. Tests the scheduler's ability to handle extreme load imbalance and deep recursion trees. Represents the hardest case for static allocation.</a:t>
            </a:r>
            <a:endParaRPr lang="en-US" sz="1350" dirty="0"/>
          </a:p>
        </p:txBody>
      </p:sp>
      <p:sp>
        <p:nvSpPr>
          <p:cNvPr id="17" name="Shape 12"/>
          <p:cNvSpPr/>
          <p:nvPr/>
        </p:nvSpPr>
        <p:spPr>
          <a:xfrm>
            <a:off x="10814923" y="1860471"/>
            <a:ext cx="3128486" cy="3431857"/>
          </a:xfrm>
          <a:prstGeom prst="roundRect">
            <a:avLst>
              <a:gd name="adj" fmla="val 2331"/>
            </a:avLst>
          </a:prstGeom>
          <a:solidFill>
            <a:srgbClr val="FFFFFF"/>
          </a:solidFill>
          <a:ln w="22860">
            <a:solidFill>
              <a:srgbClr val="C0C1D7"/>
            </a:solidFill>
            <a:prstDash val="solid"/>
          </a:ln>
        </p:spPr>
      </p:sp>
      <p:sp>
        <p:nvSpPr>
          <p:cNvPr id="18" name="Text 13"/>
          <p:cNvSpPr/>
          <p:nvPr/>
        </p:nvSpPr>
        <p:spPr>
          <a:xfrm>
            <a:off x="11011376" y="2056924"/>
            <a:ext cx="2735580" cy="542449"/>
          </a:xfrm>
          <a:prstGeom prst="rect">
            <a:avLst/>
          </a:prstGeom>
          <a:noFill/>
          <a:ln/>
        </p:spPr>
        <p:txBody>
          <a:bodyPr wrap="square" lIns="0" tIns="0" rIns="0" bIns="0" rtlCol="0" anchor="t"/>
          <a:lstStyle/>
          <a:p>
            <a:pPr marL="0" indent="0" algn="l">
              <a:lnSpc>
                <a:spcPts val="2100"/>
              </a:lnSpc>
              <a:buNone/>
            </a:pPr>
            <a:r>
              <a:rPr lang="en-US" sz="1700" b="1" dirty="0">
                <a:solidFill>
                  <a:srgbClr val="272525"/>
                </a:solidFill>
                <a:latin typeface="Inter Bold" pitchFamily="34" charset="0"/>
                <a:ea typeface="Inter Bold" pitchFamily="34" charset="-122"/>
                <a:cs typeface="Inter Bold" pitchFamily="34" charset="-120"/>
              </a:rPr>
              <a:t>Parallel Merge Sort — Balanced</a:t>
            </a:r>
            <a:endParaRPr lang="en-US" sz="1700" dirty="0"/>
          </a:p>
        </p:txBody>
      </p:sp>
      <p:sp>
        <p:nvSpPr>
          <p:cNvPr id="19" name="Text 14"/>
          <p:cNvSpPr/>
          <p:nvPr/>
        </p:nvSpPr>
        <p:spPr>
          <a:xfrm>
            <a:off x="11011376" y="2751296"/>
            <a:ext cx="2735580" cy="2344579"/>
          </a:xfrm>
          <a:prstGeom prst="rect">
            <a:avLst/>
          </a:prstGeom>
          <a:noFill/>
          <a:ln/>
        </p:spPr>
        <p:txBody>
          <a:bodyPr wrap="square" lIns="0" tIns="0" rIns="0" bIns="0" rtlCol="0" anchor="t"/>
          <a:lstStyle/>
          <a:p>
            <a:pPr marL="0" indent="0" algn="l">
              <a:lnSpc>
                <a:spcPts val="2050"/>
              </a:lnSpc>
              <a:buNone/>
            </a:pPr>
            <a:r>
              <a:rPr lang="en-US" sz="1350" dirty="0">
                <a:solidFill>
                  <a:srgbClr val="272525"/>
                </a:solidFill>
                <a:latin typeface="Inter" pitchFamily="34" charset="0"/>
                <a:ea typeface="Inter" pitchFamily="34" charset="-122"/>
                <a:cs typeface="Inter" pitchFamily="34" charset="-120"/>
              </a:rPr>
              <a:t>Divide-and-conquer workload with predictable, roughly symmetric task distribution. OpenMP uses </a:t>
            </a:r>
            <a:r>
              <a:rPr lang="en-US" sz="1350" dirty="0">
                <a:solidFill>
                  <a:srgbClr val="272525"/>
                </a:solidFill>
                <a:highlight>
                  <a:srgbClr val="F2F2F2"/>
                </a:highlight>
                <a:latin typeface="Consolas" pitchFamily="34" charset="0"/>
                <a:ea typeface="Consolas" pitchFamily="34" charset="-122"/>
                <a:cs typeface="Consolas" pitchFamily="34" charset="-120"/>
              </a:rPr>
              <a:t>#pragma omp parallel for</a:t>
            </a:r>
            <a:r>
              <a:rPr lang="en-US" sz="1350" dirty="0">
                <a:solidFill>
                  <a:srgbClr val="272525"/>
                </a:solidFill>
                <a:latin typeface="Inter" pitchFamily="34" charset="0"/>
                <a:ea typeface="Inter" pitchFamily="34" charset="-122"/>
                <a:cs typeface="Inter" pitchFamily="34" charset="-120"/>
              </a:rPr>
              <a:t>. Tests performance on structured, moderately balanced workloads where overhead sources differ from irregular cases.</a:t>
            </a:r>
            <a:endParaRPr lang="en-US" sz="1350" dirty="0"/>
          </a:p>
        </p:txBody>
      </p:sp>
      <p:sp>
        <p:nvSpPr>
          <p:cNvPr id="20" name="Shape 15"/>
          <p:cNvSpPr/>
          <p:nvPr/>
        </p:nvSpPr>
        <p:spPr>
          <a:xfrm>
            <a:off x="7534632" y="5444252"/>
            <a:ext cx="6408777" cy="2118598"/>
          </a:xfrm>
          <a:prstGeom prst="roundRect">
            <a:avLst>
              <a:gd name="adj" fmla="val 3443"/>
            </a:avLst>
          </a:prstGeom>
          <a:solidFill>
            <a:srgbClr val="FFFFFF"/>
          </a:solidFill>
          <a:ln w="22860">
            <a:solidFill>
              <a:srgbClr val="C0C1D7"/>
            </a:solidFill>
            <a:prstDash val="solid"/>
          </a:ln>
        </p:spPr>
      </p:sp>
      <p:sp>
        <p:nvSpPr>
          <p:cNvPr id="21" name="Text 16"/>
          <p:cNvSpPr/>
          <p:nvPr/>
        </p:nvSpPr>
        <p:spPr>
          <a:xfrm>
            <a:off x="7731085" y="5640705"/>
            <a:ext cx="4550807" cy="271224"/>
          </a:xfrm>
          <a:prstGeom prst="rect">
            <a:avLst/>
          </a:prstGeom>
          <a:noFill/>
          <a:ln/>
        </p:spPr>
        <p:txBody>
          <a:bodyPr wrap="none" lIns="0" tIns="0" rIns="0" bIns="0" rtlCol="0" anchor="t"/>
          <a:lstStyle/>
          <a:p>
            <a:pPr marL="0" indent="0" algn="l">
              <a:lnSpc>
                <a:spcPts val="2100"/>
              </a:lnSpc>
              <a:buNone/>
            </a:pPr>
            <a:r>
              <a:rPr lang="en-US" sz="1700" b="1" dirty="0">
                <a:solidFill>
                  <a:srgbClr val="272525"/>
                </a:solidFill>
                <a:latin typeface="Inter Bold" pitchFamily="34" charset="0"/>
                <a:ea typeface="Inter Bold" pitchFamily="34" charset="-122"/>
                <a:cs typeface="Inter Bold" pitchFamily="34" charset="-120"/>
              </a:rPr>
              <a:t>Matrix Multiplication — Compute-Intensive</a:t>
            </a:r>
            <a:endParaRPr lang="en-US" sz="1700" dirty="0"/>
          </a:p>
        </p:txBody>
      </p:sp>
      <p:sp>
        <p:nvSpPr>
          <p:cNvPr id="22" name="Text 17"/>
          <p:cNvSpPr/>
          <p:nvPr/>
        </p:nvSpPr>
        <p:spPr>
          <a:xfrm>
            <a:off x="7731085" y="6063853"/>
            <a:ext cx="6015871" cy="1302544"/>
          </a:xfrm>
          <a:prstGeom prst="rect">
            <a:avLst/>
          </a:prstGeom>
          <a:noFill/>
          <a:ln/>
        </p:spPr>
        <p:txBody>
          <a:bodyPr wrap="square" lIns="0" tIns="0" rIns="0" bIns="0" rtlCol="0" anchor="t"/>
          <a:lstStyle/>
          <a:p>
            <a:pPr marL="0" indent="0" algn="l">
              <a:lnSpc>
                <a:spcPts val="2050"/>
              </a:lnSpc>
              <a:buNone/>
            </a:pPr>
            <a:r>
              <a:rPr lang="en-US" sz="1350" dirty="0">
                <a:solidFill>
                  <a:srgbClr val="272525"/>
                </a:solidFill>
                <a:latin typeface="Inter" pitchFamily="34" charset="0"/>
                <a:ea typeface="Inter" pitchFamily="34" charset="-122"/>
                <a:cs typeface="Inter" pitchFamily="34" charset="-120"/>
              </a:rPr>
              <a:t>Perfectly regular, mathematically uniform nested loop computation. OpenMP uses </a:t>
            </a:r>
            <a:r>
              <a:rPr lang="en-US" sz="1350" dirty="0">
                <a:solidFill>
                  <a:srgbClr val="272525"/>
                </a:solidFill>
                <a:highlight>
                  <a:srgbClr val="F2F2F2"/>
                </a:highlight>
                <a:latin typeface="Consolas" pitchFamily="34" charset="0"/>
                <a:ea typeface="Consolas" pitchFamily="34" charset="-122"/>
                <a:cs typeface="Consolas" pitchFamily="34" charset="-120"/>
              </a:rPr>
              <a:t>#pragma omp parallel for collapse(2)</a:t>
            </a:r>
            <a:r>
              <a:rPr lang="en-US" sz="1350" dirty="0">
                <a:solidFill>
                  <a:srgbClr val="272525"/>
                </a:solidFill>
                <a:latin typeface="Inter" pitchFamily="34" charset="0"/>
                <a:ea typeface="Inter" pitchFamily="34" charset="-122"/>
                <a:cs typeface="Inter" pitchFamily="34" charset="-120"/>
              </a:rPr>
              <a:t> with compile-time loop tiling. Represents the best case for static compiler-optimized parallelism — the most challenging scenario for a dynamic runtime scheduler.</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82228" y="516969"/>
            <a:ext cx="8530590" cy="532924"/>
          </a:xfrm>
          <a:prstGeom prst="rect">
            <a:avLst/>
          </a:prstGeom>
          <a:noFill/>
          <a:ln/>
        </p:spPr>
        <p:txBody>
          <a:bodyPr wrap="none" lIns="0" tIns="0" rIns="0" bIns="0" rtlCol="0" anchor="t"/>
          <a:lstStyle/>
          <a:p>
            <a:pPr marL="0" indent="0" algn="l">
              <a:lnSpc>
                <a:spcPts val="4150"/>
              </a:lnSpc>
              <a:buNone/>
            </a:pPr>
            <a:r>
              <a:rPr lang="en-US" sz="3350" b="1" dirty="0">
                <a:solidFill>
                  <a:srgbClr val="000000"/>
                </a:solidFill>
                <a:latin typeface="Inter Bold" pitchFamily="34" charset="0"/>
                <a:ea typeface="Inter Bold" pitchFamily="34" charset="-122"/>
                <a:cs typeface="Inter Bold" pitchFamily="34" charset="-120"/>
              </a:rPr>
              <a:t>Results — Fibonacci (Irregular Workload)</a:t>
            </a:r>
            <a:endParaRPr lang="en-US" sz="3350" dirty="0"/>
          </a:p>
        </p:txBody>
      </p:sp>
      <p:sp>
        <p:nvSpPr>
          <p:cNvPr id="3" name="Shape 1"/>
          <p:cNvSpPr/>
          <p:nvPr/>
        </p:nvSpPr>
        <p:spPr>
          <a:xfrm>
            <a:off x="682228" y="1343025"/>
            <a:ext cx="1851660" cy="305038"/>
          </a:xfrm>
          <a:prstGeom prst="roundRect">
            <a:avLst>
              <a:gd name="adj" fmla="val 18788"/>
            </a:avLst>
          </a:prstGeom>
          <a:solidFill>
            <a:srgbClr val="DADBF1"/>
          </a:solidFill>
          <a:ln/>
        </p:spPr>
      </p:sp>
      <p:sp>
        <p:nvSpPr>
          <p:cNvPr id="4" name="Text 2"/>
          <p:cNvSpPr/>
          <p:nvPr/>
        </p:nvSpPr>
        <p:spPr>
          <a:xfrm>
            <a:off x="784503" y="1394103"/>
            <a:ext cx="1647111" cy="202883"/>
          </a:xfrm>
          <a:prstGeom prst="rect">
            <a:avLst/>
          </a:prstGeom>
          <a:noFill/>
          <a:ln/>
        </p:spPr>
        <p:txBody>
          <a:bodyPr wrap="none" lIns="0" tIns="0" rIns="0" bIns="0" rtlCol="0" anchor="t"/>
          <a:lstStyle/>
          <a:p>
            <a:pPr marL="0" indent="0" algn="l">
              <a:lnSpc>
                <a:spcPts val="1550"/>
              </a:lnSpc>
              <a:buNone/>
            </a:pPr>
            <a:r>
              <a:rPr lang="en-US" sz="1050" dirty="0">
                <a:solidFill>
                  <a:srgbClr val="272525"/>
                </a:solidFill>
                <a:latin typeface="Inter" pitchFamily="34" charset="0"/>
                <a:ea typeface="Inter" pitchFamily="34" charset="-122"/>
                <a:cs typeface="Inter" pitchFamily="34" charset="-120"/>
              </a:rPr>
              <a:t>KEY PERFORMANCE WIN</a:t>
            </a:r>
            <a:endParaRPr lang="en-US" sz="1050" dirty="0"/>
          </a:p>
        </p:txBody>
      </p:sp>
      <p:sp>
        <p:nvSpPr>
          <p:cNvPr id="5" name="Text 3"/>
          <p:cNvSpPr/>
          <p:nvPr/>
        </p:nvSpPr>
        <p:spPr>
          <a:xfrm>
            <a:off x="682228" y="1959412"/>
            <a:ext cx="3443645" cy="266462"/>
          </a:xfrm>
          <a:prstGeom prst="rect">
            <a:avLst/>
          </a:prstGeom>
          <a:noFill/>
          <a:ln/>
        </p:spPr>
        <p:txBody>
          <a:bodyPr wrap="none" lIns="0" tIns="0" rIns="0" bIns="0" rtlCol="0" anchor="t"/>
          <a:lstStyle/>
          <a:p>
            <a:pPr marL="0" indent="0" algn="l">
              <a:lnSpc>
                <a:spcPts val="2050"/>
              </a:lnSpc>
              <a:buNone/>
            </a:pPr>
            <a:r>
              <a:rPr lang="en-US" sz="1650" b="1" dirty="0">
                <a:solidFill>
                  <a:srgbClr val="000000"/>
                </a:solidFill>
                <a:latin typeface="Inter Bold" pitchFamily="34" charset="0"/>
                <a:ea typeface="Inter Bold" pitchFamily="34" charset="-122"/>
                <a:cs typeface="Inter Bold" pitchFamily="34" charset="-120"/>
              </a:rPr>
              <a:t>Execution Time vs. Thread Count</a:t>
            </a:r>
            <a:endParaRPr lang="en-US" sz="1650" dirty="0"/>
          </a:p>
        </p:txBody>
      </p:sp>
      <p:sp>
        <p:nvSpPr>
          <p:cNvPr id="6" name="Text 4"/>
          <p:cNvSpPr/>
          <p:nvPr/>
        </p:nvSpPr>
        <p:spPr>
          <a:xfrm>
            <a:off x="682228" y="2372439"/>
            <a:ext cx="6424970" cy="1014889"/>
          </a:xfrm>
          <a:prstGeom prst="rect">
            <a:avLst/>
          </a:prstGeom>
          <a:noFill/>
          <a:ln/>
        </p:spPr>
        <p:txBody>
          <a:bodyPr wrap="square" lIns="0" tIns="0" rIns="0" bIns="0" rtlCol="0" anchor="t"/>
          <a:lstStyle/>
          <a:p>
            <a:pPr marL="0" indent="0" algn="l">
              <a:lnSpc>
                <a:spcPts val="1950"/>
              </a:lnSpc>
              <a:buNone/>
            </a:pPr>
            <a:r>
              <a:rPr lang="en-US" sz="1300" dirty="0">
                <a:solidFill>
                  <a:srgbClr val="272525"/>
                </a:solidFill>
                <a:latin typeface="Inter" pitchFamily="34" charset="0"/>
                <a:ea typeface="Inter" pitchFamily="34" charset="-122"/>
                <a:cs typeface="Inter" pitchFamily="34" charset="-120"/>
              </a:rPr>
              <a:t>As thread count increases from 1 to 8, all dynamic modes show significant execution time reduction. The custom Adaptive Hybrid and Work-Stealing schedulers exhibit the steepest decline, particularly at high thread counts where OpenMP's lock contention on tiny recursive tasks begins to compound.</a:t>
            </a:r>
            <a:endParaRPr lang="en-US" sz="1300" dirty="0"/>
          </a:p>
        </p:txBody>
      </p:sp>
      <p:sp>
        <p:nvSpPr>
          <p:cNvPr id="7" name="Shape 5"/>
          <p:cNvSpPr/>
          <p:nvPr/>
        </p:nvSpPr>
        <p:spPr>
          <a:xfrm>
            <a:off x="682228" y="3552111"/>
            <a:ext cx="6424970" cy="1421130"/>
          </a:xfrm>
          <a:prstGeom prst="roundRect">
            <a:avLst>
              <a:gd name="adj" fmla="val 5041"/>
            </a:avLst>
          </a:prstGeom>
          <a:solidFill>
            <a:srgbClr val="B6FCB8"/>
          </a:solidFill>
          <a:ln/>
        </p:spPr>
      </p:sp>
      <p:pic>
        <p:nvPicPr>
          <p:cNvPr id="8" name="Image 0" descr="preencoded.png"/>
          <p:cNvPicPr>
            <a:picLocks noChangeAspect="1"/>
          </p:cNvPicPr>
          <p:nvPr/>
        </p:nvPicPr>
        <p:blipFill>
          <a:blip r:embed="rId3"/>
          <a:stretch>
            <a:fillRect/>
          </a:stretch>
        </p:blipFill>
        <p:spPr>
          <a:xfrm>
            <a:off x="852726" y="3806547"/>
            <a:ext cx="213122" cy="170497"/>
          </a:xfrm>
          <a:prstGeom prst="rect">
            <a:avLst/>
          </a:prstGeom>
        </p:spPr>
      </p:pic>
      <p:sp>
        <p:nvSpPr>
          <p:cNvPr id="9" name="Text 6"/>
          <p:cNvSpPr/>
          <p:nvPr/>
        </p:nvSpPr>
        <p:spPr>
          <a:xfrm>
            <a:off x="1236345" y="3741301"/>
            <a:ext cx="5700355" cy="1014889"/>
          </a:xfrm>
          <a:prstGeom prst="rect">
            <a:avLst/>
          </a:prstGeom>
          <a:noFill/>
          <a:ln/>
        </p:spPr>
        <p:txBody>
          <a:bodyPr wrap="square" lIns="0" tIns="0" rIns="0" bIns="0" rtlCol="0" anchor="t"/>
          <a:lstStyle/>
          <a:p>
            <a:pPr marL="0" indent="0" algn="l">
              <a:lnSpc>
                <a:spcPts val="1950"/>
              </a:lnSpc>
              <a:buNone/>
            </a:pPr>
            <a:r>
              <a:rPr lang="en-US" sz="1300" dirty="0">
                <a:solidFill>
                  <a:srgbClr val="000000"/>
                </a:solidFill>
                <a:latin typeface="Inter" pitchFamily="34" charset="0"/>
                <a:ea typeface="Inter" pitchFamily="34" charset="-122"/>
                <a:cs typeface="Inter" pitchFamily="34" charset="-120"/>
              </a:rPr>
              <a:t>At maximum thread count, the custom Adaptive Hybrid and Work-Stealing schedulers outperform OpenMP by approximately </a:t>
            </a:r>
            <a:r>
              <a:rPr lang="en-US" sz="1300" b="1" dirty="0">
                <a:solidFill>
                  <a:srgbClr val="000000"/>
                </a:solidFill>
                <a:latin typeface="Inter" pitchFamily="34" charset="0"/>
                <a:ea typeface="Inter" pitchFamily="34" charset="-122"/>
                <a:cs typeface="Inter" pitchFamily="34" charset="-120"/>
              </a:rPr>
              <a:t>11.7%</a:t>
            </a:r>
            <a:r>
              <a:rPr lang="en-US" sz="1300" dirty="0">
                <a:solidFill>
                  <a:srgbClr val="000000"/>
                </a:solidFill>
                <a:latin typeface="Inter" pitchFamily="34" charset="0"/>
                <a:ea typeface="Inter" pitchFamily="34" charset="-122"/>
                <a:cs typeface="Inter" pitchFamily="34" charset="-120"/>
              </a:rPr>
              <a:t> on the Fibonacci workload — a statistically significant margin that validates the architectural design.</a:t>
            </a:r>
            <a:endParaRPr lang="en-US" sz="1300" dirty="0"/>
          </a:p>
        </p:txBody>
      </p:sp>
      <p:sp>
        <p:nvSpPr>
          <p:cNvPr id="10" name="Text 7"/>
          <p:cNvSpPr/>
          <p:nvPr/>
        </p:nvSpPr>
        <p:spPr>
          <a:xfrm>
            <a:off x="682228" y="5138023"/>
            <a:ext cx="4053364" cy="266462"/>
          </a:xfrm>
          <a:prstGeom prst="rect">
            <a:avLst/>
          </a:prstGeom>
          <a:noFill/>
          <a:ln/>
        </p:spPr>
        <p:txBody>
          <a:bodyPr wrap="none" lIns="0" tIns="0" rIns="0" bIns="0" rtlCol="0" anchor="t"/>
          <a:lstStyle/>
          <a:p>
            <a:pPr marL="0" indent="0" algn="l">
              <a:lnSpc>
                <a:spcPts val="2050"/>
              </a:lnSpc>
              <a:buNone/>
            </a:pPr>
            <a:r>
              <a:rPr lang="en-US" sz="1650" b="1" dirty="0">
                <a:solidFill>
                  <a:srgbClr val="000000"/>
                </a:solidFill>
                <a:latin typeface="Inter Bold" pitchFamily="34" charset="0"/>
                <a:ea typeface="Inter Bold" pitchFamily="34" charset="-122"/>
                <a:cs typeface="Inter Bold" pitchFamily="34" charset="-120"/>
              </a:rPr>
              <a:t>Why Does Custom Beat OpenMP Here?</a:t>
            </a:r>
            <a:endParaRPr lang="en-US" sz="1650" dirty="0"/>
          </a:p>
        </p:txBody>
      </p:sp>
      <p:sp>
        <p:nvSpPr>
          <p:cNvPr id="11" name="Text 8"/>
          <p:cNvSpPr/>
          <p:nvPr/>
        </p:nvSpPr>
        <p:spPr>
          <a:xfrm>
            <a:off x="682228" y="5551051"/>
            <a:ext cx="6424970" cy="2029778"/>
          </a:xfrm>
          <a:prstGeom prst="rect">
            <a:avLst/>
          </a:prstGeom>
          <a:noFill/>
          <a:ln/>
        </p:spPr>
        <p:txBody>
          <a:bodyPr wrap="square" lIns="0" tIns="0" rIns="0" bIns="0" rtlCol="0" anchor="t"/>
          <a:lstStyle/>
          <a:p>
            <a:pPr marL="0" indent="0" algn="l">
              <a:lnSpc>
                <a:spcPts val="1950"/>
              </a:lnSpc>
              <a:buNone/>
            </a:pPr>
            <a:r>
              <a:rPr lang="en-US" sz="1300" dirty="0">
                <a:solidFill>
                  <a:srgbClr val="272525"/>
                </a:solidFill>
                <a:latin typeface="Inter" pitchFamily="34" charset="0"/>
                <a:ea typeface="Inter" pitchFamily="34" charset="-122"/>
                <a:cs typeface="Inter" pitchFamily="34" charset="-120"/>
              </a:rPr>
              <a:t>Fibonacci is a highly irregular workload: the recursive tree generates thousands of sub-problems of wildly varying cost. OpenMP's </a:t>
            </a:r>
            <a:r>
              <a:rPr lang="en-US" sz="1300" dirty="0">
                <a:solidFill>
                  <a:srgbClr val="272525"/>
                </a:solidFill>
                <a:highlight>
                  <a:srgbClr val="F2F2F2"/>
                </a:highlight>
                <a:latin typeface="Consolas" pitchFamily="34" charset="0"/>
                <a:ea typeface="Consolas" pitchFamily="34" charset="-122"/>
                <a:cs typeface="Consolas" pitchFamily="34" charset="-120"/>
              </a:rPr>
              <a:t>#pragma omp task</a:t>
            </a:r>
            <a:r>
              <a:rPr lang="en-US" sz="1300" dirty="0">
                <a:solidFill>
                  <a:srgbClr val="272525"/>
                </a:solidFill>
                <a:latin typeface="Inter" pitchFamily="34" charset="0"/>
                <a:ea typeface="Inter" pitchFamily="34" charset="-122"/>
                <a:cs typeface="Inter" pitchFamily="34" charset="-120"/>
              </a:rPr>
              <a:t> relies on an internal runtime that experiences elevated lock contention and queue saturation at depth. Our Help-First policy actively </a:t>
            </a:r>
            <a:r>
              <a:rPr lang="en-US" sz="1300" b="1" dirty="0">
                <a:solidFill>
                  <a:srgbClr val="272525"/>
                </a:solidFill>
                <a:latin typeface="Inter" pitchFamily="34" charset="0"/>
                <a:ea typeface="Inter" pitchFamily="34" charset="-122"/>
                <a:cs typeface="Inter" pitchFamily="34" charset="-120"/>
              </a:rPr>
              <a:t>pushes tasks directly to idle workers</a:t>
            </a:r>
            <a:r>
              <a:rPr lang="en-US" sz="1300" dirty="0">
                <a:solidFill>
                  <a:srgbClr val="272525"/>
                </a:solidFill>
                <a:latin typeface="Inter" pitchFamily="34" charset="0"/>
                <a:ea typeface="Inter" pitchFamily="34" charset="-122"/>
                <a:cs typeface="Inter" pitchFamily="34" charset="-120"/>
              </a:rPr>
              <a:t> during heavy imbalance phases, bypassing the centralized bottleneck. Cost-aware gating further prevents the scheduler from thrashing on sub-problems below the cost threshold — a mechanism OpenMP does not natively provide at the application level.</a:t>
            </a:r>
            <a:endParaRPr lang="en-US" sz="1300" dirty="0"/>
          </a:p>
        </p:txBody>
      </p:sp>
      <p:sp>
        <p:nvSpPr>
          <p:cNvPr id="12" name="Text 9"/>
          <p:cNvSpPr/>
          <p:nvPr/>
        </p:nvSpPr>
        <p:spPr>
          <a:xfrm>
            <a:off x="7530822" y="1959412"/>
            <a:ext cx="3599974" cy="266462"/>
          </a:xfrm>
          <a:prstGeom prst="rect">
            <a:avLst/>
          </a:prstGeom>
          <a:noFill/>
          <a:ln/>
        </p:spPr>
        <p:txBody>
          <a:bodyPr wrap="none" lIns="0" tIns="0" rIns="0" bIns="0" rtlCol="0" anchor="t"/>
          <a:lstStyle/>
          <a:p>
            <a:pPr marL="0" indent="0" algn="l">
              <a:lnSpc>
                <a:spcPts val="2050"/>
              </a:lnSpc>
              <a:buNone/>
            </a:pPr>
            <a:r>
              <a:rPr lang="en-US" sz="1650" b="1" dirty="0">
                <a:solidFill>
                  <a:srgbClr val="000000"/>
                </a:solidFill>
                <a:latin typeface="Inter Bold" pitchFamily="34" charset="0"/>
                <a:ea typeface="Inter Bold" pitchFamily="34" charset="-122"/>
                <a:cs typeface="Inter Bold" pitchFamily="34" charset="-120"/>
              </a:rPr>
              <a:t>Speedup Comparison — All Modes</a:t>
            </a:r>
            <a:endParaRPr lang="en-US" sz="1650" dirty="0"/>
          </a:p>
        </p:txBody>
      </p:sp>
      <p:pic>
        <p:nvPicPr>
          <p:cNvPr id="13" name="Image 1" descr="preencoded.png"/>
          <p:cNvPicPr>
            <a:picLocks noChangeAspect="1"/>
          </p:cNvPicPr>
          <p:nvPr/>
        </p:nvPicPr>
        <p:blipFill>
          <a:blip r:embed="rId4"/>
          <a:stretch>
            <a:fillRect/>
          </a:stretch>
        </p:blipFill>
        <p:spPr>
          <a:xfrm>
            <a:off x="7530822" y="2390656"/>
            <a:ext cx="6424970" cy="3569375"/>
          </a:xfrm>
          <a:prstGeom prst="rect">
            <a:avLst/>
          </a:prstGeom>
        </p:spPr>
      </p:pic>
      <p:sp>
        <p:nvSpPr>
          <p:cNvPr id="14" name="Text 10"/>
          <p:cNvSpPr/>
          <p:nvPr/>
        </p:nvSpPr>
        <p:spPr>
          <a:xfrm>
            <a:off x="7530822" y="6124813"/>
            <a:ext cx="6424970" cy="1014889"/>
          </a:xfrm>
          <a:prstGeom prst="rect">
            <a:avLst/>
          </a:prstGeom>
          <a:noFill/>
          <a:ln/>
        </p:spPr>
        <p:txBody>
          <a:bodyPr wrap="square" lIns="0" tIns="0" rIns="0" bIns="0" rtlCol="0" anchor="t"/>
          <a:lstStyle/>
          <a:p>
            <a:pPr marL="0" indent="0" algn="l">
              <a:lnSpc>
                <a:spcPts val="1950"/>
              </a:lnSpc>
              <a:buNone/>
            </a:pPr>
            <a:r>
              <a:rPr lang="en-US" sz="1300" dirty="0">
                <a:solidFill>
                  <a:srgbClr val="272525"/>
                </a:solidFill>
                <a:latin typeface="Inter" pitchFamily="34" charset="0"/>
                <a:ea typeface="Inter" pitchFamily="34" charset="-122"/>
                <a:cs typeface="Inter" pitchFamily="34" charset="-120"/>
              </a:rPr>
              <a:t>The chart illustrates that both the Adaptive Hybrid and Work-Stealing modes achieve superior speedup on Fibonacci compared to OpenMP and Static modes. Sequential serves as the 1.0 baseline. Static scheduling plateaus early due to its inability to rebalance when task sub-trees prove asymmetric.</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1446014" y="433864"/>
            <a:ext cx="8096726" cy="465177"/>
          </a:xfrm>
          <a:prstGeom prst="rect">
            <a:avLst/>
          </a:prstGeom>
          <a:noFill/>
          <a:ln/>
        </p:spPr>
        <p:txBody>
          <a:bodyPr wrap="none" lIns="0" tIns="0" rIns="0" bIns="0" rtlCol="0" anchor="t"/>
          <a:lstStyle/>
          <a:p>
            <a:pPr marL="0" indent="0" algn="l">
              <a:lnSpc>
                <a:spcPts val="3650"/>
              </a:lnSpc>
              <a:buNone/>
            </a:pPr>
            <a:r>
              <a:rPr lang="en-US" sz="2900" b="1" dirty="0">
                <a:solidFill>
                  <a:srgbClr val="000000"/>
                </a:solidFill>
                <a:latin typeface="Inter Bold" pitchFamily="34" charset="0"/>
                <a:ea typeface="Inter Bold" pitchFamily="34" charset="-122"/>
                <a:cs typeface="Inter Bold" pitchFamily="34" charset="-120"/>
              </a:rPr>
              <a:t>Results — Merge Sort &amp; Matrix Multiplication</a:t>
            </a:r>
            <a:endParaRPr lang="en-US" sz="2900" dirty="0"/>
          </a:p>
        </p:txBody>
      </p:sp>
      <p:sp>
        <p:nvSpPr>
          <p:cNvPr id="3" name="Text 1"/>
          <p:cNvSpPr/>
          <p:nvPr/>
        </p:nvSpPr>
        <p:spPr>
          <a:xfrm>
            <a:off x="1446014" y="1178004"/>
            <a:ext cx="3961805" cy="232529"/>
          </a:xfrm>
          <a:prstGeom prst="rect">
            <a:avLst/>
          </a:prstGeom>
          <a:noFill/>
          <a:ln/>
        </p:spPr>
        <p:txBody>
          <a:bodyPr wrap="none" lIns="0" tIns="0" rIns="0" bIns="0" rtlCol="0" anchor="t"/>
          <a:lstStyle/>
          <a:p>
            <a:pPr marL="0" indent="0" algn="l">
              <a:lnSpc>
                <a:spcPts val="1800"/>
              </a:lnSpc>
              <a:buNone/>
            </a:pPr>
            <a:r>
              <a:rPr lang="en-US" sz="1450" b="1" dirty="0">
                <a:solidFill>
                  <a:srgbClr val="000000"/>
                </a:solidFill>
                <a:latin typeface="Inter Bold" pitchFamily="34" charset="0"/>
                <a:ea typeface="Inter Bold" pitchFamily="34" charset="-122"/>
                <a:cs typeface="Inter Bold" pitchFamily="34" charset="-120"/>
              </a:rPr>
              <a:t>Merge Sort (Balanced Divide-and-Conquer)</a:t>
            </a:r>
            <a:endParaRPr lang="en-US" sz="1450" dirty="0"/>
          </a:p>
        </p:txBody>
      </p:sp>
      <p:pic>
        <p:nvPicPr>
          <p:cNvPr id="4" name="Image 0" descr="preencoded.png"/>
          <p:cNvPicPr>
            <a:picLocks noChangeAspect="1"/>
          </p:cNvPicPr>
          <p:nvPr/>
        </p:nvPicPr>
        <p:blipFill>
          <a:blip r:embed="rId3"/>
          <a:stretch>
            <a:fillRect/>
          </a:stretch>
        </p:blipFill>
        <p:spPr>
          <a:xfrm>
            <a:off x="1446014" y="1536025"/>
            <a:ext cx="5687497" cy="3159681"/>
          </a:xfrm>
          <a:prstGeom prst="rect">
            <a:avLst/>
          </a:prstGeom>
        </p:spPr>
      </p:pic>
      <p:sp>
        <p:nvSpPr>
          <p:cNvPr id="5" name="Text 2"/>
          <p:cNvSpPr/>
          <p:nvPr/>
        </p:nvSpPr>
        <p:spPr>
          <a:xfrm>
            <a:off x="1446014" y="4821198"/>
            <a:ext cx="5687497" cy="208359"/>
          </a:xfrm>
          <a:prstGeom prst="rect">
            <a:avLst/>
          </a:prstGeom>
          <a:noFill/>
          <a:ln/>
        </p:spPr>
        <p:txBody>
          <a:bodyPr wrap="none" lIns="0" tIns="0" rIns="0" bIns="0" rtlCol="0" anchor="t"/>
          <a:lstStyle/>
          <a:p>
            <a:pPr marL="0" indent="0" algn="l">
              <a:lnSpc>
                <a:spcPts val="1600"/>
              </a:lnSpc>
              <a:buNone/>
            </a:pPr>
            <a:endParaRPr lang="en-US" sz="1150" dirty="0"/>
          </a:p>
        </p:txBody>
      </p:sp>
      <p:sp>
        <p:nvSpPr>
          <p:cNvPr id="6" name="Text 3"/>
          <p:cNvSpPr/>
          <p:nvPr/>
        </p:nvSpPr>
        <p:spPr>
          <a:xfrm>
            <a:off x="1446014" y="5129927"/>
            <a:ext cx="5687497" cy="1458516"/>
          </a:xfrm>
          <a:prstGeom prst="rect">
            <a:avLst/>
          </a:prstGeom>
          <a:noFill/>
          <a:ln/>
        </p:spPr>
        <p:txBody>
          <a:bodyPr wrap="square" lIns="0" tIns="0" rIns="0" bIns="0" rtlCol="0" anchor="t"/>
          <a:lstStyle/>
          <a:p>
            <a:pPr marL="0" indent="0" algn="l">
              <a:lnSpc>
                <a:spcPts val="1600"/>
              </a:lnSpc>
              <a:buNone/>
            </a:pPr>
            <a:r>
              <a:rPr lang="en-US" sz="1150" dirty="0">
                <a:solidFill>
                  <a:srgbClr val="272525"/>
                </a:solidFill>
                <a:latin typeface="Inter" pitchFamily="34" charset="0"/>
                <a:ea typeface="Inter" pitchFamily="34" charset="-122"/>
                <a:cs typeface="Inter" pitchFamily="34" charset="-120"/>
              </a:rPr>
              <a:t>For Parallel Merge Sort, the three dynamic modes — Work-Stealing, Adaptive Hybrid, and OpenMP — exhibit nearly identical speedup profiles across all thread counts. The structured divide-and-conquer partitioning of Merge Sort naturally suppresses major load imbalance from the outset, leaving little headroom for dynamic policies to differentiate themselves. Static scheduling performs adequately but trails slightly at higher thread counts where minor imbalances accumulate.</a:t>
            </a:r>
            <a:endParaRPr lang="en-US" sz="1150" dirty="0"/>
          </a:p>
        </p:txBody>
      </p:sp>
      <p:sp>
        <p:nvSpPr>
          <p:cNvPr id="7" name="Shape 4"/>
          <p:cNvSpPr/>
          <p:nvPr/>
        </p:nvSpPr>
        <p:spPr>
          <a:xfrm>
            <a:off x="1446014" y="6713934"/>
            <a:ext cx="5687497" cy="948571"/>
          </a:xfrm>
          <a:prstGeom prst="roundRect">
            <a:avLst>
              <a:gd name="adj" fmla="val 6591"/>
            </a:avLst>
          </a:prstGeom>
          <a:solidFill>
            <a:srgbClr val="B6D6FC"/>
          </a:solidFill>
          <a:ln/>
        </p:spPr>
      </p:sp>
      <p:pic>
        <p:nvPicPr>
          <p:cNvPr id="8" name="Image 1" descr="preencoded.png"/>
          <p:cNvPicPr>
            <a:picLocks noChangeAspect="1"/>
          </p:cNvPicPr>
          <p:nvPr/>
        </p:nvPicPr>
        <p:blipFill>
          <a:blip r:embed="rId4"/>
          <a:stretch>
            <a:fillRect/>
          </a:stretch>
        </p:blipFill>
        <p:spPr>
          <a:xfrm>
            <a:off x="1594842" y="6922056"/>
            <a:ext cx="185976" cy="148828"/>
          </a:xfrm>
          <a:prstGeom prst="rect">
            <a:avLst/>
          </a:prstGeom>
        </p:spPr>
      </p:pic>
      <p:sp>
        <p:nvSpPr>
          <p:cNvPr id="9" name="Text 5"/>
          <p:cNvSpPr/>
          <p:nvPr/>
        </p:nvSpPr>
        <p:spPr>
          <a:xfrm>
            <a:off x="1929646" y="6862643"/>
            <a:ext cx="5055037" cy="625078"/>
          </a:xfrm>
          <a:prstGeom prst="rect">
            <a:avLst/>
          </a:prstGeom>
          <a:noFill/>
          <a:ln/>
        </p:spPr>
        <p:txBody>
          <a:bodyPr wrap="square" lIns="0" tIns="0" rIns="0" bIns="0" rtlCol="0" anchor="t"/>
          <a:lstStyle/>
          <a:p>
            <a:pPr marL="0" indent="0" algn="l">
              <a:lnSpc>
                <a:spcPts val="1600"/>
              </a:lnSpc>
              <a:buNone/>
            </a:pPr>
            <a:r>
              <a:rPr lang="en-US" sz="1150" dirty="0">
                <a:solidFill>
                  <a:srgbClr val="000000"/>
                </a:solidFill>
                <a:latin typeface="Inter" pitchFamily="34" charset="0"/>
                <a:ea typeface="Inter" pitchFamily="34" charset="-122"/>
                <a:cs typeface="Inter" pitchFamily="34" charset="-120"/>
              </a:rPr>
              <a:t>Merge Sort result validates that the custom scheduler introduces </a:t>
            </a:r>
            <a:r>
              <a:rPr lang="en-US" sz="1150" b="1" dirty="0">
                <a:solidFill>
                  <a:srgbClr val="000000"/>
                </a:solidFill>
                <a:latin typeface="Inter" pitchFamily="34" charset="0"/>
                <a:ea typeface="Inter" pitchFamily="34" charset="-122"/>
                <a:cs typeface="Inter" pitchFamily="34" charset="-120"/>
              </a:rPr>
              <a:t>no harmful overhead</a:t>
            </a:r>
            <a:r>
              <a:rPr lang="en-US" sz="1150" dirty="0">
                <a:solidFill>
                  <a:srgbClr val="000000"/>
                </a:solidFill>
                <a:latin typeface="Inter" pitchFamily="34" charset="0"/>
                <a:ea typeface="Inter" pitchFamily="34" charset="-122"/>
                <a:cs typeface="Inter" pitchFamily="34" charset="-120"/>
              </a:rPr>
              <a:t> on balanced workloads — it matches OpenMP performance without conceding ground.</a:t>
            </a:r>
            <a:endParaRPr lang="en-US" sz="1150" dirty="0"/>
          </a:p>
        </p:txBody>
      </p:sp>
      <p:sp>
        <p:nvSpPr>
          <p:cNvPr id="10" name="Text 6"/>
          <p:cNvSpPr/>
          <p:nvPr/>
        </p:nvSpPr>
        <p:spPr>
          <a:xfrm>
            <a:off x="7504271" y="1178004"/>
            <a:ext cx="3809167" cy="232529"/>
          </a:xfrm>
          <a:prstGeom prst="rect">
            <a:avLst/>
          </a:prstGeom>
          <a:noFill/>
          <a:ln/>
        </p:spPr>
        <p:txBody>
          <a:bodyPr wrap="none" lIns="0" tIns="0" rIns="0" bIns="0" rtlCol="0" anchor="t"/>
          <a:lstStyle/>
          <a:p>
            <a:pPr marL="0" indent="0" algn="l">
              <a:lnSpc>
                <a:spcPts val="1800"/>
              </a:lnSpc>
              <a:buNone/>
            </a:pPr>
            <a:r>
              <a:rPr lang="en-US" sz="1450" b="1" dirty="0">
                <a:solidFill>
                  <a:srgbClr val="000000"/>
                </a:solidFill>
                <a:latin typeface="Inter Bold" pitchFamily="34" charset="0"/>
                <a:ea typeface="Inter Bold" pitchFamily="34" charset="-122"/>
                <a:cs typeface="Inter Bold" pitchFamily="34" charset="-120"/>
              </a:rPr>
              <a:t>Matrix Multiplication (Compute-Intensive)</a:t>
            </a:r>
            <a:endParaRPr lang="en-US" sz="1450" dirty="0"/>
          </a:p>
        </p:txBody>
      </p:sp>
      <p:pic>
        <p:nvPicPr>
          <p:cNvPr id="11" name="Image 2" descr="preencoded.png"/>
          <p:cNvPicPr>
            <a:picLocks noChangeAspect="1"/>
          </p:cNvPicPr>
          <p:nvPr/>
        </p:nvPicPr>
        <p:blipFill>
          <a:blip r:embed="rId5"/>
          <a:stretch>
            <a:fillRect/>
          </a:stretch>
        </p:blipFill>
        <p:spPr>
          <a:xfrm>
            <a:off x="7504271" y="1536025"/>
            <a:ext cx="5687497" cy="3159681"/>
          </a:xfrm>
          <a:prstGeom prst="rect">
            <a:avLst/>
          </a:prstGeom>
        </p:spPr>
      </p:pic>
      <p:sp>
        <p:nvSpPr>
          <p:cNvPr id="12" name="Text 7"/>
          <p:cNvSpPr/>
          <p:nvPr/>
        </p:nvSpPr>
        <p:spPr>
          <a:xfrm>
            <a:off x="7504271" y="4821198"/>
            <a:ext cx="5687497" cy="208359"/>
          </a:xfrm>
          <a:prstGeom prst="rect">
            <a:avLst/>
          </a:prstGeom>
          <a:noFill/>
          <a:ln/>
        </p:spPr>
        <p:txBody>
          <a:bodyPr wrap="none" lIns="0" tIns="0" rIns="0" bIns="0" rtlCol="0" anchor="t"/>
          <a:lstStyle/>
          <a:p>
            <a:pPr marL="0" indent="0" algn="l">
              <a:lnSpc>
                <a:spcPts val="1600"/>
              </a:lnSpc>
              <a:buNone/>
            </a:pPr>
            <a:endParaRPr lang="en-US" sz="1150" dirty="0"/>
          </a:p>
        </p:txBody>
      </p:sp>
      <p:sp>
        <p:nvSpPr>
          <p:cNvPr id="13" name="Text 8"/>
          <p:cNvSpPr/>
          <p:nvPr/>
        </p:nvSpPr>
        <p:spPr>
          <a:xfrm>
            <a:off x="7504271" y="5129927"/>
            <a:ext cx="5687497" cy="1466136"/>
          </a:xfrm>
          <a:prstGeom prst="rect">
            <a:avLst/>
          </a:prstGeom>
          <a:noFill/>
          <a:ln/>
        </p:spPr>
        <p:txBody>
          <a:bodyPr wrap="square" lIns="0" tIns="0" rIns="0" bIns="0" rtlCol="0" anchor="t"/>
          <a:lstStyle/>
          <a:p>
            <a:pPr marL="0" indent="0" algn="l">
              <a:lnSpc>
                <a:spcPts val="1600"/>
              </a:lnSpc>
              <a:buNone/>
            </a:pPr>
            <a:r>
              <a:rPr lang="en-US" sz="1150" dirty="0">
                <a:solidFill>
                  <a:srgbClr val="272525"/>
                </a:solidFill>
                <a:latin typeface="Inter" pitchFamily="34" charset="0"/>
                <a:ea typeface="Inter" pitchFamily="34" charset="-122"/>
                <a:cs typeface="Inter" pitchFamily="34" charset="-120"/>
              </a:rPr>
              <a:t>On Matrix Multiplication, OpenMP edges ahead of the custom Adaptive Hybrid by approximately </a:t>
            </a:r>
            <a:r>
              <a:rPr lang="en-US" sz="1150" b="1" dirty="0">
                <a:solidFill>
                  <a:srgbClr val="272525"/>
                </a:solidFill>
                <a:latin typeface="Inter" pitchFamily="34" charset="0"/>
                <a:ea typeface="Inter" pitchFamily="34" charset="-122"/>
                <a:cs typeface="Inter" pitchFamily="34" charset="-120"/>
              </a:rPr>
              <a:t>1.7%</a:t>
            </a:r>
            <a:r>
              <a:rPr lang="en-US" sz="1150" dirty="0">
                <a:solidFill>
                  <a:srgbClr val="272525"/>
                </a:solidFill>
                <a:latin typeface="Inter" pitchFamily="34" charset="0"/>
                <a:ea typeface="Inter" pitchFamily="34" charset="-122"/>
                <a:cs typeface="Inter" pitchFamily="34" charset="-120"/>
              </a:rPr>
              <a:t> at maximum thread count. This outcome is expected and honest: OpenMP's </a:t>
            </a:r>
            <a:r>
              <a:rPr lang="en-US" sz="1150" dirty="0">
                <a:solidFill>
                  <a:srgbClr val="272525"/>
                </a:solidFill>
                <a:highlight>
                  <a:srgbClr val="F2F2F2"/>
                </a:highlight>
                <a:latin typeface="Consolas" pitchFamily="34" charset="0"/>
                <a:ea typeface="Consolas" pitchFamily="34" charset="-122"/>
                <a:cs typeface="Consolas" pitchFamily="34" charset="-120"/>
              </a:rPr>
              <a:t>#pragma omp parallel for collapse(2)</a:t>
            </a:r>
            <a:r>
              <a:rPr lang="en-US" sz="1150" dirty="0">
                <a:solidFill>
                  <a:srgbClr val="272525"/>
                </a:solidFill>
                <a:latin typeface="Inter" pitchFamily="34" charset="0"/>
                <a:ea typeface="Inter" pitchFamily="34" charset="-122"/>
                <a:cs typeface="Inter" pitchFamily="34" charset="-120"/>
              </a:rPr>
              <a:t> flattens the two-dimensional iteration space at </a:t>
            </a:r>
            <a:r>
              <a:rPr lang="en-US" sz="1150" b="1" dirty="0">
                <a:solidFill>
                  <a:srgbClr val="272525"/>
                </a:solidFill>
                <a:latin typeface="Inter" pitchFamily="34" charset="0"/>
                <a:ea typeface="Inter" pitchFamily="34" charset="-122"/>
                <a:cs typeface="Inter" pitchFamily="34" charset="-120"/>
              </a:rPr>
              <a:t>compile time</a:t>
            </a:r>
            <a:r>
              <a:rPr lang="en-US" sz="1150" dirty="0">
                <a:solidFill>
                  <a:srgbClr val="272525"/>
                </a:solidFill>
                <a:latin typeface="Inter" pitchFamily="34" charset="0"/>
                <a:ea typeface="Inter" pitchFamily="34" charset="-122"/>
                <a:cs typeface="Inter" pitchFamily="34" charset="-120"/>
              </a:rPr>
              <a:t>, enabling loop tiling and memory access optimizations that a runtime-evaluated dynamic queue system cannot replicate. The microscopic advantage of compile-time knowledge in perfectly uniform loops is well-documented in the literature.</a:t>
            </a:r>
            <a:endParaRPr lang="en-US" sz="1150" dirty="0"/>
          </a:p>
        </p:txBody>
      </p:sp>
      <p:sp>
        <p:nvSpPr>
          <p:cNvPr id="14" name="Shape 9"/>
          <p:cNvSpPr/>
          <p:nvPr/>
        </p:nvSpPr>
        <p:spPr>
          <a:xfrm>
            <a:off x="7504271" y="6721554"/>
            <a:ext cx="5687497" cy="948571"/>
          </a:xfrm>
          <a:prstGeom prst="roundRect">
            <a:avLst>
              <a:gd name="adj" fmla="val 6591"/>
            </a:avLst>
          </a:prstGeom>
          <a:solidFill>
            <a:srgbClr val="C7C9EA"/>
          </a:solidFill>
          <a:ln/>
        </p:spPr>
      </p:sp>
      <p:pic>
        <p:nvPicPr>
          <p:cNvPr id="15" name="Image 3" descr="preencoded.png"/>
          <p:cNvPicPr>
            <a:picLocks noChangeAspect="1"/>
          </p:cNvPicPr>
          <p:nvPr/>
        </p:nvPicPr>
        <p:blipFill>
          <a:blip r:embed="rId6"/>
          <a:stretch>
            <a:fillRect/>
          </a:stretch>
        </p:blipFill>
        <p:spPr>
          <a:xfrm>
            <a:off x="7653099" y="6929676"/>
            <a:ext cx="185976" cy="148828"/>
          </a:xfrm>
          <a:prstGeom prst="rect">
            <a:avLst/>
          </a:prstGeom>
        </p:spPr>
      </p:pic>
      <p:sp>
        <p:nvSpPr>
          <p:cNvPr id="16" name="Text 10"/>
          <p:cNvSpPr/>
          <p:nvPr/>
        </p:nvSpPr>
        <p:spPr>
          <a:xfrm>
            <a:off x="7987903" y="6870263"/>
            <a:ext cx="5055037" cy="625078"/>
          </a:xfrm>
          <a:prstGeom prst="rect">
            <a:avLst/>
          </a:prstGeom>
          <a:noFill/>
          <a:ln/>
        </p:spPr>
        <p:txBody>
          <a:bodyPr wrap="square" lIns="0" tIns="0" rIns="0" bIns="0" rtlCol="0" anchor="t"/>
          <a:lstStyle/>
          <a:p>
            <a:pPr marL="0" indent="0" algn="l">
              <a:lnSpc>
                <a:spcPts val="1600"/>
              </a:lnSpc>
              <a:buNone/>
            </a:pPr>
            <a:r>
              <a:rPr lang="en-US" sz="1150" dirty="0">
                <a:solidFill>
                  <a:srgbClr val="000000"/>
                </a:solidFill>
                <a:latin typeface="Inter" pitchFamily="34" charset="0"/>
                <a:ea typeface="Inter" pitchFamily="34" charset="-122"/>
                <a:cs typeface="Inter" pitchFamily="34" charset="-120"/>
              </a:rPr>
              <a:t>This result demonstrates the scheduler's intellectual honesty — it does not claim universal superiority, but rather identifies the precise workload categories where each approach excels.</a:t>
            </a:r>
            <a:endParaRPr lang="en-US" sz="1150" dirty="0"/>
          </a:p>
        </p:txBody>
      </p:sp>
    </p:spTree>
  </p:cSld>
  <p:clrMapOvr>
    <a:masterClrMapping/>
  </p:clrMapOvr>
</p:sld>
</file>

<file path=ppt/theme/theme1.xml><?xml version="1.0" encoding="utf-8"?>
<a:theme xmlns:a="http://schemas.openxmlformats.org/drawingml/2006/main" name="Office Theme">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TotalTime>
  <Words>2360</Words>
  <Application>Microsoft Office PowerPoint</Application>
  <PresentationFormat>Custom</PresentationFormat>
  <Paragraphs>157</Paragraphs>
  <Slides>10</Slides>
  <Notes>10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10</vt:i4>
      </vt:variant>
    </vt:vector>
  </HeadingPairs>
  <TitlesOfParts>
    <vt:vector size="18" baseType="lpstr">
      <vt:lpstr>Consolas</vt:lpstr>
      <vt:lpstr>Inter Light</vt:lpstr>
      <vt:lpstr>Calibri Light</vt:lpstr>
      <vt:lpstr>Inter Bold</vt:lpstr>
      <vt:lpstr>Calibri</vt:lpstr>
      <vt:lpstr>Arial</vt:lpstr>
      <vt:lpstr>Inter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lastModifiedBy>ANKIT</cp:lastModifiedBy>
  <cp:revision>2</cp:revision>
  <dcterms:created xsi:type="dcterms:W3CDTF">2026-04-28T22:22:34Z</dcterms:created>
  <dcterms:modified xsi:type="dcterms:W3CDTF">2026-04-28T22:29:35Z</dcterms:modified>
</cp:coreProperties>
</file>